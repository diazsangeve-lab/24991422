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Lst>
  <p:sldSz cx="9144000" cy="6858000" type="screen4x3"/>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9b9a085a27e44fbe28ceb3dfa8331567e8ce2dc.png"/>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9e0a47f2fe6cadbdbc82d0091ef6182596b874d.png"/>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01faf6f4b6407b1d841a8da6ccf690ebb77735b.png"/>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1c741682f0c18f6df3775b5c91b4707595ca8d8.png"/>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57200" y="1463040"/>
            <a:ext cx="8229600" cy="365760"/>
          </a:xfrm>
        </p:spPr>
        <p:txBody>
          <a:bodyPr/>
          <a:lstStyle/>
          <a:p>
            <a:pPr algn="l" marL="0" marR="0">
              <a:lnSpc>
                <a:spcPct val="100000"/>
              </a:lnSpc>
              <a:spcBef>
                <a:spcPts val="0"/>
              </a:spcBef>
              <a:spcAft>
                <a:spcPts val="0"/>
              </a:spcAft>
              <a:buNone/>
            </a:pPr>
            <a:r>
              <a:rPr cap="none" sz="1200" i="0" b="1" u="none" strike="noStrike">
                <a:solidFill>
                  <a:srgbClr val="C75B39">
                    <a:alpha val="100000"/>
                  </a:srgbClr>
                </a:solidFill>
                <a:latin typeface="Calibri"/>
                <a:cs typeface="Calibri"/>
                <a:ea typeface="Calibri"/>
                <a:sym typeface="Calibri"/>
              </a:rPr>
              <a:t>DATA-DRIVEN COFFEE PROCUREMENT STRATEGY</a:t>
            </a:r>
          </a:p>
        </p:txBody>
      </p:sp>
      <p:sp>
        <p:nvSpPr>
          <p:cNvPr id="3" name=""/>
          <p:cNvSpPr>
            <a:spLocks noGrp="1"/>
          </p:cNvSpPr>
          <p:nvPr>
            <p:ph/>
          </p:nvPr>
        </p:nvSpPr>
        <p:spPr>
          <a:xfrm>
            <a:off x="457200" y="1920240"/>
            <a:ext cx="8229600" cy="1097280"/>
          </a:xfrm>
        </p:spPr>
        <p:txBody>
          <a:bodyPr/>
          <a:lstStyle/>
          <a:p>
            <a:pPr algn="l" marL="0" marR="0">
              <a:lnSpc>
                <a:spcPct val="100000"/>
              </a:lnSpc>
              <a:spcBef>
                <a:spcPts val="0"/>
              </a:spcBef>
              <a:spcAft>
                <a:spcPts val="0"/>
              </a:spcAft>
              <a:buNone/>
            </a:pPr>
            <a:r>
              <a:rPr cap="none" sz="4800" i="0" b="1" u="none" strike="noStrike">
                <a:solidFill>
                  <a:srgbClr val="2E1D14">
                    <a:alpha val="100000"/>
                  </a:srgbClr>
                </a:solidFill>
                <a:latin typeface="Cambria"/>
                <a:cs typeface="Cambria"/>
                <a:ea typeface="Cambria"/>
                <a:sym typeface="Cambria"/>
              </a:rPr>
              <a:t>Stocking The Neelsie Coffee Hub</a:t>
            </a:r>
          </a:p>
        </p:txBody>
      </p:sp>
      <p:sp>
        <p:nvSpPr>
          <p:cNvPr id="4" name=""/>
          <p:cNvSpPr>
            <a:spLocks noGrp="1"/>
          </p:cNvSpPr>
          <p:nvPr>
            <p:ph/>
          </p:nvPr>
        </p:nvSpPr>
        <p:spPr>
          <a:xfrm>
            <a:off x="457200" y="3657600"/>
            <a:ext cx="7498080" cy="1097280"/>
          </a:xfrm>
        </p:spPr>
        <p:txBody>
          <a:bodyPr/>
          <a:lstStyle/>
          <a:p>
            <a:pPr algn="l" marL="0" marR="0">
              <a:lnSpc>
                <a:spcPct val="100000"/>
              </a:lnSpc>
              <a:spcBef>
                <a:spcPts val="0"/>
              </a:spcBef>
              <a:spcAft>
                <a:spcPts val="0"/>
              </a:spcAft>
              <a:buNone/>
            </a:pPr>
            <a:r>
              <a:rPr cap="none" sz="1600" i="0" b="0" u="none" strike="noStrike">
                <a:solidFill>
                  <a:srgbClr val="3A2A1E">
                    <a:alpha val="100000"/>
                  </a:srgbClr>
                </a:solidFill>
                <a:latin typeface="Calibri"/>
                <a:cs typeface="Calibri"/>
                <a:ea typeface="Calibri"/>
                <a:sym typeface="Calibri"/>
              </a:rPr>
              <a:t>This presentation explores optimal coffee selections, regional sourcing strategies, and preferred suppliers. The findings indicate the best options by evaluating a database of expert-reviewed coffees alongside the specific preferences of Stellenbosch University students.</a:t>
            </a:r>
          </a:p>
        </p:txBody>
      </p:sp>
      <p:sp>
        <p:nvSpPr>
          <p:cNvPr id="5" name=""/>
          <p:cNvSpPr>
            <a:spLocks noGrp="1"/>
          </p:cNvSpPr>
          <p:nvPr>
            <p:ph/>
          </p:nvPr>
        </p:nvSpPr>
        <p:spPr>
          <a:xfrm>
            <a:off x="457200" y="6126480"/>
            <a:ext cx="8229600" cy="365760"/>
          </a:xfrm>
        </p:spPr>
        <p:txBody>
          <a:bodyPr/>
          <a:lstStyle/>
          <a:p>
            <a:pPr algn="l" marL="0" marR="0">
              <a:lnSpc>
                <a:spcPct val="100000"/>
              </a:lnSpc>
              <a:spcBef>
                <a:spcPts val="0"/>
              </a:spcBef>
              <a:spcAft>
                <a:spcPts val="0"/>
              </a:spcAft>
              <a:buNone/>
            </a:pPr>
            <a:r>
              <a:rPr cap="none" sz="1100" i="0" b="0" u="none" strike="noStrike">
                <a:solidFill>
                  <a:srgbClr val="8A7560">
                    <a:alpha val="100000"/>
                  </a:srgbClr>
                </a:solidFill>
                <a:latin typeface="Calibri"/>
                <a:cs typeface="Calibri"/>
                <a:ea typeface="Calibri"/>
                <a:sym typeface="Calibri"/>
              </a:rPr>
              <a:t>Prepared for the Neelsie Coffee Project by Diaz Sangeve   ·  Student Number - 24991422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57200" y="274320"/>
            <a:ext cx="8229600" cy="274320"/>
          </a:xfrm>
        </p:spPr>
        <p:txBody>
          <a:bodyPr/>
          <a:lstStyle/>
          <a:p>
            <a:pPr algn="l" marL="0" marR="0">
              <a:lnSpc>
                <a:spcPct val="100000"/>
              </a:lnSpc>
              <a:spcBef>
                <a:spcPts val="0"/>
              </a:spcBef>
              <a:spcAft>
                <a:spcPts val="0"/>
              </a:spcAft>
              <a:buNone/>
            </a:pPr>
            <a:r>
              <a:rPr cap="none" sz="1200" i="0" b="1" u="none" strike="noStrike">
                <a:solidFill>
                  <a:srgbClr val="C75B39">
                    <a:alpha val="100000"/>
                  </a:srgbClr>
                </a:solidFill>
                <a:latin typeface="Calibri"/>
                <a:cs typeface="Calibri"/>
                <a:ea typeface="Calibri"/>
                <a:sym typeface="Calibri"/>
              </a:rPr>
              <a:t>METHODOLOGICAL APPROACH</a:t>
            </a:r>
          </a:p>
        </p:txBody>
      </p:sp>
      <p:sp>
        <p:nvSpPr>
          <p:cNvPr id="3" name=""/>
          <p:cNvSpPr>
            <a:spLocks noGrp="1"/>
          </p:cNvSpPr>
          <p:nvPr>
            <p:ph/>
          </p:nvPr>
        </p:nvSpPr>
        <p:spPr>
          <a:xfrm>
            <a:off x="457200" y="502920"/>
            <a:ext cx="8229600" cy="640080"/>
          </a:xfrm>
        </p:spPr>
        <p:txBody>
          <a:bodyPr/>
          <a:lstStyle/>
          <a:p>
            <a:pPr algn="l" marL="0" marR="0">
              <a:lnSpc>
                <a:spcPct val="100000"/>
              </a:lnSpc>
              <a:spcBef>
                <a:spcPts val="0"/>
              </a:spcBef>
              <a:spcAft>
                <a:spcPts val="0"/>
              </a:spcAft>
              <a:buNone/>
            </a:pPr>
            <a:r>
              <a:rPr cap="none" sz="3000" i="0" b="1" u="none" strike="noStrike">
                <a:solidFill>
                  <a:srgbClr val="2E1D14">
                    <a:alpha val="100000"/>
                  </a:srgbClr>
                </a:solidFill>
                <a:latin typeface="Cambria"/>
                <a:cs typeface="Cambria"/>
                <a:ea typeface="Cambria"/>
                <a:sym typeface="Cambria"/>
              </a:rPr>
              <a:t>Data Aggregation and Evaluation Strategy</a:t>
            </a:r>
          </a:p>
        </p:txBody>
      </p:sp>
      <p:graphicFrame>
        <p:nvGraphicFramePr>
          <p:cNvPr id="4" name=""/>
          <p:cNvGraphicFramePr>
            <a:graphicFrameLocks noGrp="true"/>
          </p:cNvGraphicFramePr>
          <p:nvPr/>
        </p:nvGraphicFramePr>
        <p:xfrm rot="0">
          <a:off x="457200" y="1371600"/>
          <a:ext cx="8229600" cy="1097280"/>
        </p:xfrm>
        <a:graphic>
          <a:graphicData uri="http://schemas.openxmlformats.org/drawingml/2006/table">
            <a:tbl>
              <a:tblPr/>
              <a:tblGrid>
                <a:gridCol w="2057400"/>
                <a:gridCol w="2057400"/>
                <a:gridCol w="2057400"/>
                <a:gridCol w="2057400"/>
              </a:tblGrid>
              <a:tr h="228600">
                <a:tc>
                  <a:txBody>
                    <a:bodyPr/>
                    <a:lstStyle/>
                    <a:p>
                      <a:pPr algn="ctr" marL="63500" marR="63500">
                        <a:lnSpc>
                          <a:spcPct val="100000"/>
                        </a:lnSpc>
                        <a:spcBef>
                          <a:spcPts val="500"/>
                        </a:spcBef>
                        <a:spcAft>
                          <a:spcPts val="500"/>
                        </a:spcAft>
                        <a:buNone/>
                      </a:pPr>
                      <a:r>
                        <a:rPr cap="none" sz="2200" i="0" b="1" u="none" strike="noStrike">
                          <a:solidFill>
                            <a:srgbClr val="C75B39">
                              <a:alpha val="100000"/>
                            </a:srgbClr>
                          </a:solidFill>
                          <a:latin typeface="Calibri"/>
                          <a:cs typeface="Calibri"/>
                          <a:ea typeface="Calibri"/>
                          <a:sym typeface="Calibri"/>
                        </a:rPr>
                        <a:t>2,095</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100000"/>
                      </a:srgbClr>
                    </a:solidFill>
                  </a:tcPr>
                </a:tc>
                <a:tc>
                  <a:txBody>
                    <a:bodyPr/>
                    <a:lstStyle/>
                    <a:p>
                      <a:pPr algn="ctr" marL="63500" marR="63500">
                        <a:lnSpc>
                          <a:spcPct val="100000"/>
                        </a:lnSpc>
                        <a:spcBef>
                          <a:spcPts val="500"/>
                        </a:spcBef>
                        <a:spcAft>
                          <a:spcPts val="500"/>
                        </a:spcAft>
                        <a:buNone/>
                      </a:pPr>
                      <a:r>
                        <a:rPr cap="none" sz="2200" i="0" b="1" u="none" strike="noStrike">
                          <a:solidFill>
                            <a:srgbClr val="C75B39">
                              <a:alpha val="100000"/>
                            </a:srgbClr>
                          </a:solidFill>
                          <a:latin typeface="Calibri"/>
                          <a:cs typeface="Calibri"/>
                          <a:ea typeface="Calibri"/>
                          <a:sym typeface="Calibri"/>
                        </a:rPr>
                        <a:t>3</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100000"/>
                      </a:srgbClr>
                    </a:solidFill>
                  </a:tcPr>
                </a:tc>
                <a:tc>
                  <a:txBody>
                    <a:bodyPr/>
                    <a:lstStyle/>
                    <a:p>
                      <a:pPr algn="ctr" marL="63500" marR="63500">
                        <a:lnSpc>
                          <a:spcPct val="100000"/>
                        </a:lnSpc>
                        <a:spcBef>
                          <a:spcPts val="500"/>
                        </a:spcBef>
                        <a:spcAft>
                          <a:spcPts val="500"/>
                        </a:spcAft>
                        <a:buNone/>
                      </a:pPr>
                      <a:r>
                        <a:rPr cap="none" sz="2200" i="0" b="1" u="none" strike="noStrike">
                          <a:solidFill>
                            <a:srgbClr val="C75B39">
                              <a:alpha val="100000"/>
                            </a:srgbClr>
                          </a:solidFill>
                          <a:latin typeface="Calibri"/>
                          <a:cs typeface="Calibri"/>
                          <a:ea typeface="Calibri"/>
                          <a:sym typeface="Calibri"/>
                        </a:rPr>
                        <a:t>84-98</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100000"/>
                      </a:srgbClr>
                    </a:solidFill>
                  </a:tcPr>
                </a:tc>
                <a:tc>
                  <a:txBody>
                    <a:bodyPr/>
                    <a:lstStyle/>
                    <a:p>
                      <a:pPr algn="ctr" marL="63500" marR="63500">
                        <a:lnSpc>
                          <a:spcPct val="100000"/>
                        </a:lnSpc>
                        <a:spcBef>
                          <a:spcPts val="500"/>
                        </a:spcBef>
                        <a:spcAft>
                          <a:spcPts val="500"/>
                        </a:spcAft>
                        <a:buNone/>
                      </a:pPr>
                      <a:r>
                        <a:rPr cap="none" sz="2200" i="0" b="1" u="none" strike="noStrike">
                          <a:solidFill>
                            <a:srgbClr val="C75B39">
                              <a:alpha val="100000"/>
                            </a:srgbClr>
                          </a:solidFill>
                          <a:latin typeface="Calibri"/>
                          <a:cs typeface="Calibri"/>
                          <a:ea typeface="Calibri"/>
                          <a:sym typeface="Calibri"/>
                        </a:rPr>
                        <a:t>36</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100000"/>
                      </a:srgbClr>
                    </a:solidFill>
                  </a:tcPr>
                </a:tc>
              </a:tr>
              <a:tr h="228600">
                <a:tc>
                  <a:txBody>
                    <a:bodyPr/>
                    <a:lstStyle/>
                    <a:p>
                      <a:pPr algn="ctr"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Coffees Reviewed</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0">
                      <a:noFill/>
                      <a:prstDash val="solid"/>
                    </a:lnT>
                    <a:lnB algn="ctr" cmpd="sng" cap="flat" w="12700">
                      <a:solidFill>
                        <a:srgbClr val="CDC0B0">
                          <a:alpha val="100000"/>
                        </a:srgbClr>
                      </a:solidFill>
                      <a:prstDash val="solid"/>
                    </a:lnB>
                    <a:solidFill>
                      <a:srgbClr val="CDC0B0">
                        <a:alpha val="100000"/>
                      </a:srgbClr>
                    </a:solidFill>
                  </a:tcPr>
                </a:tc>
                <a:tc>
                  <a:txBody>
                    <a:bodyPr/>
                    <a:lstStyle/>
                    <a:p>
                      <a:pPr algn="ctr"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Expert Reviews Per Coffee</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0">
                      <a:noFill/>
                      <a:prstDash val="solid"/>
                    </a:lnT>
                    <a:lnB algn="ctr" cmpd="sng" cap="flat" w="12700">
                      <a:solidFill>
                        <a:srgbClr val="CDC0B0">
                          <a:alpha val="100000"/>
                        </a:srgbClr>
                      </a:solidFill>
                      <a:prstDash val="solid"/>
                    </a:lnB>
                    <a:solidFill>
                      <a:srgbClr val="CDC0B0">
                        <a:alpha val="100000"/>
                      </a:srgbClr>
                    </a:solidFill>
                  </a:tcPr>
                </a:tc>
                <a:tc>
                  <a:txBody>
                    <a:bodyPr/>
                    <a:lstStyle/>
                    <a:p>
                      <a:pPr algn="ctr"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Rating Range</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0">
                      <a:noFill/>
                      <a:prstDash val="solid"/>
                    </a:lnT>
                    <a:lnB algn="ctr" cmpd="sng" cap="flat" w="12700">
                      <a:solidFill>
                        <a:srgbClr val="CDC0B0">
                          <a:alpha val="100000"/>
                        </a:srgbClr>
                      </a:solidFill>
                      <a:prstDash val="solid"/>
                    </a:lnB>
                    <a:solidFill>
                      <a:srgbClr val="CDC0B0">
                        <a:alpha val="100000"/>
                      </a:srgbClr>
                    </a:solidFill>
                  </a:tcPr>
                </a:tc>
                <a:tc>
                  <a:txBody>
                    <a:bodyPr/>
                    <a:lstStyle/>
                    <a:p>
                      <a:pPr algn="ctr"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Student Flavour Keywords</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0">
                      <a:noFill/>
                      <a:prstDash val="solid"/>
                    </a:lnT>
                    <a:lnB algn="ctr" cmpd="sng" cap="flat" w="12700">
                      <a:solidFill>
                        <a:srgbClr val="CDC0B0">
                          <a:alpha val="100000"/>
                        </a:srgbClr>
                      </a:solidFill>
                      <a:prstDash val="solid"/>
                    </a:lnB>
                    <a:solidFill>
                      <a:srgbClr val="CDC0B0">
                        <a:alpha val="100000"/>
                      </a:srgbClr>
                    </a:solidFill>
                  </a:tcPr>
                </a:tc>
              </a:tr>
            </a:tbl>
          </a:graphicData>
        </a:graphic>
      </p:graphicFrame>
      <p:sp>
        <p:nvSpPr>
          <p:cNvPr id="5" name=""/>
          <p:cNvSpPr>
            <a:spLocks noGrp="1"/>
          </p:cNvSpPr>
          <p:nvPr>
            <p:ph/>
          </p:nvPr>
        </p:nvSpPr>
        <p:spPr>
          <a:xfrm>
            <a:off x="457200" y="2834640"/>
            <a:ext cx="8229600" cy="3474720"/>
          </a:xfrm>
        </p:spPr>
        <p:txBody>
          <a:bodyPr/>
          <a:lstStyle/>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Data Attributes. </a:t>
            </a:r>
            <a:r>
              <a:rPr cap="none" sz="1500" i="0" b="0" u="none" strike="noStrike">
                <a:solidFill>
                  <a:srgbClr val="3A2A1E">
                    <a:alpha val="100000"/>
                  </a:srgbClr>
                </a:solidFill>
                <a:latin typeface="Calibri"/>
                <a:cs typeface="Calibri"/>
                <a:ea typeface="Calibri"/>
                <a:sym typeface="Calibri"/>
              </a:rPr>
              <a:t>The dataset contains information on the roaster, bean origin, roast strength, cost per unit, expert ratings, and comprehensive tasting reviews for each coffee.</a:t>
            </a:r>
          </a:p>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Evaluation Metric. </a:t>
            </a:r>
            <a:r>
              <a:rPr cap="none" sz="1500" i="0" b="0" u="none" strike="noStrike">
                <a:solidFill>
                  <a:srgbClr val="3A2A1E">
                    <a:alpha val="100000"/>
                  </a:srgbClr>
                </a:solidFill>
                <a:latin typeface="Calibri"/>
                <a:cs typeface="Calibri"/>
                <a:ea typeface="Calibri"/>
                <a:sym typeface="Calibri"/>
              </a:rPr>
              <a:t>We score each coffee on how many of the student survey words appear in its reviews. That score tracks the expert rating at a correlation of 0.40, so the local vocabulary is a real signal, not noise.</a:t>
            </a:r>
          </a:p>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Research Objectives. </a:t>
            </a:r>
            <a:r>
              <a:rPr cap="none" sz="1500" i="0" b="0" u="none" strike="noStrike">
                <a:solidFill>
                  <a:srgbClr val="3A2A1E">
                    <a:alpha val="100000"/>
                  </a:srgbClr>
                </a:solidFill>
                <a:latin typeface="Calibri"/>
                <a:cs typeface="Calibri"/>
                <a:ea typeface="Calibri"/>
                <a:sym typeface="Calibri"/>
              </a:rPr>
              <a:t>The analysis identifies the optimal roast levels, regions, flavour profiles, and suppliers to maximise value and quality for the proposed coffee shop.</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57200" y="274320"/>
            <a:ext cx="8229600" cy="274320"/>
          </a:xfrm>
        </p:spPr>
        <p:txBody>
          <a:bodyPr/>
          <a:lstStyle/>
          <a:p>
            <a:pPr algn="l" marL="0" marR="0">
              <a:lnSpc>
                <a:spcPct val="100000"/>
              </a:lnSpc>
              <a:spcBef>
                <a:spcPts val="0"/>
              </a:spcBef>
              <a:spcAft>
                <a:spcPts val="0"/>
              </a:spcAft>
              <a:buNone/>
            </a:pPr>
            <a:r>
              <a:rPr cap="none" sz="1200" i="0" b="1" u="none" strike="noStrike">
                <a:solidFill>
                  <a:srgbClr val="C75B39">
                    <a:alpha val="100000"/>
                  </a:srgbClr>
                </a:solidFill>
                <a:latin typeface="Calibri"/>
                <a:cs typeface="Calibri"/>
                <a:ea typeface="Calibri"/>
                <a:sym typeface="Calibri"/>
              </a:rPr>
              <a:t>RECOMMENDATION 1 · ROAST</a:t>
            </a:r>
          </a:p>
        </p:txBody>
      </p:sp>
      <p:sp>
        <p:nvSpPr>
          <p:cNvPr id="3" name=""/>
          <p:cNvSpPr>
            <a:spLocks noGrp="1"/>
          </p:cNvSpPr>
          <p:nvPr>
            <p:ph/>
          </p:nvPr>
        </p:nvSpPr>
        <p:spPr>
          <a:xfrm>
            <a:off x="457200" y="502920"/>
            <a:ext cx="8229600" cy="640080"/>
          </a:xfrm>
        </p:spPr>
        <p:txBody>
          <a:bodyPr/>
          <a:lstStyle/>
          <a:p>
            <a:pPr algn="l" marL="0" marR="0">
              <a:lnSpc>
                <a:spcPct val="100000"/>
              </a:lnSpc>
              <a:spcBef>
                <a:spcPts val="0"/>
              </a:spcBef>
              <a:spcAft>
                <a:spcPts val="0"/>
              </a:spcAft>
              <a:buNone/>
            </a:pPr>
            <a:r>
              <a:rPr cap="none" sz="3000" i="0" b="1" u="none" strike="noStrike">
                <a:solidFill>
                  <a:srgbClr val="2E1D14">
                    <a:alpha val="100000"/>
                  </a:srgbClr>
                </a:solidFill>
                <a:latin typeface="Cambria"/>
                <a:cs typeface="Cambria"/>
                <a:ea typeface="Cambria"/>
                <a:sym typeface="Cambria"/>
              </a:rPr>
              <a:t>Prioritise Lighter Roasts</a:t>
            </a:r>
          </a:p>
        </p:txBody>
      </p:sp>
      <p:pic>
        <p:nvPicPr>
          <p:cNvPr id="4" name="" descr=""/>
          <p:cNvPicPr>
            <a:picLocks noGrp="1"/>
          </p:cNvPicPr>
          <p:nvPr>
            <p:ph/>
          </p:nvPr>
        </p:nvPicPr>
        <p:blipFill>
          <a:blip r:embed="rId2"/>
          <a:stretch>
            <a:fillRect/>
          </a:stretch>
        </p:blipFill>
        <p:spPr>
          <a:xfrm>
            <a:off x="4572000" y="1371600"/>
            <a:ext cx="4206240" cy="4023360"/>
          </a:xfrm>
          <a:prstGeom prst="rect">
            <a:avLst/>
          </a:prstGeom>
        </p:spPr>
      </p:pic>
      <p:sp>
        <p:nvSpPr>
          <p:cNvPr id="5" name=""/>
          <p:cNvSpPr>
            <a:spLocks noGrp="1"/>
          </p:cNvSpPr>
          <p:nvPr>
            <p:ph/>
          </p:nvPr>
        </p:nvSpPr>
        <p:spPr>
          <a:xfrm>
            <a:off x="457200" y="1463040"/>
            <a:ext cx="3840480" cy="4754880"/>
          </a:xfrm>
        </p:spPr>
        <p:txBody>
          <a:bodyPr/>
          <a:lstStyle/>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Lighter roasts win. </a:t>
            </a:r>
            <a:r>
              <a:rPr cap="none" sz="1500" i="0" b="0" u="none" strike="noStrike">
                <a:solidFill>
                  <a:srgbClr val="3A2A1E">
                    <a:alpha val="100000"/>
                  </a:srgbClr>
                </a:solidFill>
                <a:latin typeface="Calibri"/>
                <a:cs typeface="Calibri"/>
                <a:ea typeface="Calibri"/>
                <a:sym typeface="Calibri"/>
              </a:rPr>
              <a:t>Light and medium-light coffees attain average scores of 93.5 and 93.2 respectively. These scores surpass those of medium and dark variants. Light roasting preserves the origin characteristics that expert reviews consistently reward.</a:t>
            </a:r>
          </a:p>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Optimal inventory strategy. </a:t>
            </a:r>
            <a:r>
              <a:rPr cap="none" sz="1500" i="0" b="0" u="none" strike="noStrike">
                <a:solidFill>
                  <a:srgbClr val="3A2A1E">
                    <a:alpha val="100000"/>
                  </a:srgbClr>
                </a:solidFill>
                <a:latin typeface="Calibri"/>
                <a:cs typeface="Calibri"/>
                <a:ea typeface="Calibri"/>
                <a:sym typeface="Calibri"/>
              </a:rPr>
              <a:t>The core product range should focus on light and medium-light beans. A minimal selection of dark-roast options can be retained to satisfy specific consumer requests, variety always wins.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57200" y="274320"/>
            <a:ext cx="8229600" cy="274320"/>
          </a:xfrm>
        </p:spPr>
        <p:txBody>
          <a:bodyPr/>
          <a:lstStyle/>
          <a:p>
            <a:pPr algn="l" marL="0" marR="0">
              <a:lnSpc>
                <a:spcPct val="100000"/>
              </a:lnSpc>
              <a:spcBef>
                <a:spcPts val="0"/>
              </a:spcBef>
              <a:spcAft>
                <a:spcPts val="0"/>
              </a:spcAft>
              <a:buNone/>
            </a:pPr>
            <a:r>
              <a:rPr cap="none" sz="1200" i="0" b="1" u="none" strike="noStrike">
                <a:solidFill>
                  <a:srgbClr val="C75B39">
                    <a:alpha val="100000"/>
                  </a:srgbClr>
                </a:solidFill>
                <a:latin typeface="Calibri"/>
                <a:cs typeface="Calibri"/>
                <a:ea typeface="Calibri"/>
                <a:sym typeface="Calibri"/>
              </a:rPr>
              <a:t>RECOMMENDATION 2 · SOURCING REGION</a:t>
            </a:r>
          </a:p>
        </p:txBody>
      </p:sp>
      <p:sp>
        <p:nvSpPr>
          <p:cNvPr id="3" name=""/>
          <p:cNvSpPr>
            <a:spLocks noGrp="1"/>
          </p:cNvSpPr>
          <p:nvPr>
            <p:ph/>
          </p:nvPr>
        </p:nvSpPr>
        <p:spPr>
          <a:xfrm>
            <a:off x="457200" y="502920"/>
            <a:ext cx="8229600" cy="640080"/>
          </a:xfrm>
        </p:spPr>
        <p:txBody>
          <a:bodyPr/>
          <a:lstStyle/>
          <a:p>
            <a:pPr algn="l" marL="0" marR="0">
              <a:lnSpc>
                <a:spcPct val="100000"/>
              </a:lnSpc>
              <a:spcBef>
                <a:spcPts val="0"/>
              </a:spcBef>
              <a:spcAft>
                <a:spcPts val="0"/>
              </a:spcAft>
              <a:buNone/>
            </a:pPr>
            <a:r>
              <a:rPr cap="none" sz="3000" i="0" b="1" u="none" strike="noStrike">
                <a:solidFill>
                  <a:srgbClr val="2E1D14">
                    <a:alpha val="100000"/>
                  </a:srgbClr>
                </a:solidFill>
                <a:latin typeface="Cambria"/>
                <a:cs typeface="Cambria"/>
                <a:ea typeface="Cambria"/>
                <a:sym typeface="Cambria"/>
              </a:rPr>
              <a:t>Where the value lives</a:t>
            </a:r>
          </a:p>
        </p:txBody>
      </p:sp>
      <p:pic>
        <p:nvPicPr>
          <p:cNvPr id="4" name="" descr=""/>
          <p:cNvPicPr>
            <a:picLocks noGrp="1"/>
          </p:cNvPicPr>
          <p:nvPr>
            <p:ph/>
          </p:nvPr>
        </p:nvPicPr>
        <p:blipFill>
          <a:blip r:embed="rId2"/>
          <a:stretch>
            <a:fillRect/>
          </a:stretch>
        </p:blipFill>
        <p:spPr>
          <a:xfrm>
            <a:off x="457200" y="1371600"/>
            <a:ext cx="4206240" cy="4023360"/>
          </a:xfrm>
          <a:prstGeom prst="rect">
            <a:avLst/>
          </a:prstGeom>
        </p:spPr>
      </p:pic>
      <p:sp>
        <p:nvSpPr>
          <p:cNvPr id="5" name=""/>
          <p:cNvSpPr>
            <a:spLocks noGrp="1"/>
          </p:cNvSpPr>
          <p:nvPr>
            <p:ph/>
          </p:nvPr>
        </p:nvSpPr>
        <p:spPr>
          <a:xfrm>
            <a:off x="4846320" y="1463040"/>
            <a:ext cx="3840480" cy="4754880"/>
          </a:xfrm>
        </p:spPr>
        <p:txBody>
          <a:bodyPr/>
          <a:lstStyle/>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East Africa provides the highest marginal benefit. </a:t>
            </a:r>
            <a:r>
              <a:rPr cap="none" sz="1500" i="0" b="0" u="none" strike="noStrike">
                <a:solidFill>
                  <a:srgbClr val="3A2A1E">
                    <a:alpha val="100000"/>
                  </a:srgbClr>
                </a:solidFill>
                <a:latin typeface="Calibri"/>
                <a:cs typeface="Calibri"/>
                <a:ea typeface="Calibri"/>
                <a:sym typeface="Calibri"/>
              </a:rPr>
              <a:t>Kenya averages 93.8 and Ethiopia 93.1, within a point of Panama's 94.3, yet they cost about $7 per 100g against Panama's $31. Ethiopia also offers the widest choice, with 355 coffees in the catalogue.</a:t>
            </a:r>
          </a:p>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Strategic sourcing allocation. </a:t>
            </a:r>
            <a:r>
              <a:rPr cap="none" sz="1500" i="0" b="0" u="none" strike="noStrike">
                <a:solidFill>
                  <a:srgbClr val="3A2A1E">
                    <a:alpha val="100000"/>
                  </a:srgbClr>
                </a:solidFill>
                <a:latin typeface="Calibri"/>
                <a:cs typeface="Calibri"/>
                <a:ea typeface="Calibri"/>
                <a:sym typeface="Calibri"/>
              </a:rPr>
              <a:t>Kenya and Ethiopia should form the primary supply base. Premium options from Panama and Hawaii can be stocked in limited quantities as exclusive offerings.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57200" y="274320"/>
            <a:ext cx="8229600" cy="274320"/>
          </a:xfrm>
        </p:spPr>
        <p:txBody>
          <a:bodyPr/>
          <a:lstStyle/>
          <a:p>
            <a:pPr algn="l" marL="0" marR="0">
              <a:lnSpc>
                <a:spcPct val="100000"/>
              </a:lnSpc>
              <a:spcBef>
                <a:spcPts val="0"/>
              </a:spcBef>
              <a:spcAft>
                <a:spcPts val="0"/>
              </a:spcAft>
              <a:buNone/>
            </a:pPr>
            <a:r>
              <a:rPr cap="none" sz="1200" i="0" b="1" u="none" strike="noStrike">
                <a:solidFill>
                  <a:srgbClr val="C75B39">
                    <a:alpha val="100000"/>
                  </a:srgbClr>
                </a:solidFill>
                <a:latin typeface="Calibri"/>
                <a:cs typeface="Calibri"/>
                <a:ea typeface="Calibri"/>
                <a:sym typeface="Calibri"/>
              </a:rPr>
              <a:t>RECOMMENDATION 3 · FLAVOUR PROFILE</a:t>
            </a:r>
          </a:p>
        </p:txBody>
      </p:sp>
      <p:sp>
        <p:nvSpPr>
          <p:cNvPr id="3" name=""/>
          <p:cNvSpPr>
            <a:spLocks noGrp="1"/>
          </p:cNvSpPr>
          <p:nvPr>
            <p:ph/>
          </p:nvPr>
        </p:nvSpPr>
        <p:spPr>
          <a:xfrm>
            <a:off x="457200" y="502920"/>
            <a:ext cx="8229600" cy="640080"/>
          </a:xfrm>
        </p:spPr>
        <p:txBody>
          <a:bodyPr/>
          <a:lstStyle/>
          <a:p>
            <a:pPr algn="l" marL="0" marR="0">
              <a:lnSpc>
                <a:spcPct val="100000"/>
              </a:lnSpc>
              <a:spcBef>
                <a:spcPts val="0"/>
              </a:spcBef>
              <a:spcAft>
                <a:spcPts val="0"/>
              </a:spcAft>
              <a:buNone/>
            </a:pPr>
            <a:r>
              <a:rPr cap="none" sz="3000" i="0" b="1" u="none" strike="noStrike">
                <a:solidFill>
                  <a:srgbClr val="2E1D14">
                    <a:alpha val="100000"/>
                  </a:srgbClr>
                </a:solidFill>
                <a:latin typeface="Cambria"/>
                <a:cs typeface="Cambria"/>
                <a:ea typeface="Cambria"/>
                <a:sym typeface="Cambria"/>
              </a:rPr>
              <a:t>Defining High-Quality Characteristics</a:t>
            </a:r>
          </a:p>
        </p:txBody>
      </p:sp>
      <p:pic>
        <p:nvPicPr>
          <p:cNvPr id="4" name="" descr=""/>
          <p:cNvPicPr>
            <a:picLocks noGrp="1"/>
          </p:cNvPicPr>
          <p:nvPr>
            <p:ph/>
          </p:nvPr>
        </p:nvPicPr>
        <p:blipFill>
          <a:blip r:embed="rId2"/>
          <a:stretch>
            <a:fillRect/>
          </a:stretch>
        </p:blipFill>
        <p:spPr>
          <a:xfrm>
            <a:off x="4572000" y="1371600"/>
            <a:ext cx="4206240" cy="4023360"/>
          </a:xfrm>
          <a:prstGeom prst="rect">
            <a:avLst/>
          </a:prstGeom>
        </p:spPr>
      </p:pic>
      <p:sp>
        <p:nvSpPr>
          <p:cNvPr id="5" name=""/>
          <p:cNvSpPr>
            <a:spLocks noGrp="1"/>
          </p:cNvSpPr>
          <p:nvPr>
            <p:ph/>
          </p:nvPr>
        </p:nvSpPr>
        <p:spPr>
          <a:xfrm>
            <a:off x="457200" y="1463040"/>
            <a:ext cx="3840480" cy="4754880"/>
          </a:xfrm>
        </p:spPr>
        <p:txBody>
          <a:bodyPr/>
          <a:lstStyle/>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The best cups share a profile. </a:t>
            </a:r>
            <a:r>
              <a:rPr cap="none" sz="1500" i="0" b="0" u="none" strike="noStrike">
                <a:solidFill>
                  <a:srgbClr val="3A2A1E">
                    <a:alpha val="100000"/>
                  </a:srgbClr>
                </a:solidFill>
                <a:latin typeface="Calibri"/>
                <a:cs typeface="Calibri"/>
                <a:ea typeface="Calibri"/>
                <a:sym typeface="Calibri"/>
              </a:rPr>
              <a:t>Among coffees rating 95 and up, reviews are twice as likely to read juicy and far more likely to read syrupy, floral and bright. Crisp and plain chocolate mark the everyday cup.</a:t>
            </a:r>
          </a:p>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Buy for the words students use. </a:t>
            </a:r>
            <a:r>
              <a:rPr cap="none" sz="1500" i="0" b="0" u="none" strike="noStrike">
                <a:solidFill>
                  <a:srgbClr val="3A2A1E">
                    <a:alpha val="100000"/>
                  </a:srgbClr>
                </a:solidFill>
                <a:latin typeface="Calibri"/>
                <a:cs typeface="Calibri"/>
                <a:ea typeface="Calibri"/>
                <a:sym typeface="Calibri"/>
              </a:rPr>
              <a:t>That juicy, syrupy, floral signature is the washed East African profile. When choosing between lots, let these notes break the tie.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57200" y="274320"/>
            <a:ext cx="8229600" cy="274320"/>
          </a:xfrm>
        </p:spPr>
        <p:txBody>
          <a:bodyPr/>
          <a:lstStyle/>
          <a:p>
            <a:pPr algn="l" marL="0" marR="0">
              <a:lnSpc>
                <a:spcPct val="100000"/>
              </a:lnSpc>
              <a:spcBef>
                <a:spcPts val="0"/>
              </a:spcBef>
              <a:spcAft>
                <a:spcPts val="0"/>
              </a:spcAft>
              <a:buNone/>
            </a:pPr>
            <a:r>
              <a:rPr cap="none" sz="1200" i="0" b="1" u="none" strike="noStrike">
                <a:solidFill>
                  <a:srgbClr val="C75B39">
                    <a:alpha val="100000"/>
                  </a:srgbClr>
                </a:solidFill>
                <a:latin typeface="Calibri"/>
                <a:cs typeface="Calibri"/>
                <a:ea typeface="Calibri"/>
                <a:sym typeface="Calibri"/>
              </a:rPr>
              <a:t>RECOMMENDATION 4 · PREFERRED SUPPLIERS</a:t>
            </a:r>
          </a:p>
        </p:txBody>
      </p:sp>
      <p:sp>
        <p:nvSpPr>
          <p:cNvPr id="3" name=""/>
          <p:cNvSpPr>
            <a:spLocks noGrp="1"/>
          </p:cNvSpPr>
          <p:nvPr>
            <p:ph/>
          </p:nvPr>
        </p:nvSpPr>
        <p:spPr>
          <a:xfrm>
            <a:off x="457200" y="502920"/>
            <a:ext cx="8229600" cy="640080"/>
          </a:xfrm>
        </p:spPr>
        <p:txBody>
          <a:bodyPr/>
          <a:lstStyle/>
          <a:p>
            <a:pPr algn="l" marL="0" marR="0">
              <a:lnSpc>
                <a:spcPct val="100000"/>
              </a:lnSpc>
              <a:spcBef>
                <a:spcPts val="0"/>
              </a:spcBef>
              <a:spcAft>
                <a:spcPts val="0"/>
              </a:spcAft>
              <a:buNone/>
            </a:pPr>
            <a:r>
              <a:rPr cap="none" sz="3000" i="0" b="1" u="none" strike="noStrike">
                <a:solidFill>
                  <a:srgbClr val="2E1D14">
                    <a:alpha val="100000"/>
                  </a:srgbClr>
                </a:solidFill>
                <a:latin typeface="Cambria"/>
                <a:cs typeface="Cambria"/>
                <a:ea typeface="Cambria"/>
                <a:sym typeface="Cambria"/>
              </a:rPr>
              <a:t>Strategic Procurement Options</a:t>
            </a:r>
          </a:p>
        </p:txBody>
      </p:sp>
      <p:pic>
        <p:nvPicPr>
          <p:cNvPr id="4" name="" descr=""/>
          <p:cNvPicPr>
            <a:picLocks noGrp="1"/>
          </p:cNvPicPr>
          <p:nvPr>
            <p:ph/>
          </p:nvPr>
        </p:nvPicPr>
        <p:blipFill>
          <a:blip r:embed="rId2"/>
          <a:stretch>
            <a:fillRect/>
          </a:stretch>
        </p:blipFill>
        <p:spPr>
          <a:xfrm>
            <a:off x="457200" y="1371600"/>
            <a:ext cx="4206240" cy="4023360"/>
          </a:xfrm>
          <a:prstGeom prst="rect">
            <a:avLst/>
          </a:prstGeom>
        </p:spPr>
      </p:pic>
      <p:sp>
        <p:nvSpPr>
          <p:cNvPr id="5" name=""/>
          <p:cNvSpPr>
            <a:spLocks noGrp="1"/>
          </p:cNvSpPr>
          <p:nvPr>
            <p:ph/>
          </p:nvPr>
        </p:nvSpPr>
        <p:spPr>
          <a:xfrm>
            <a:off x="4846320" y="1463040"/>
            <a:ext cx="3840480" cy="4754880"/>
          </a:xfrm>
        </p:spPr>
        <p:txBody>
          <a:bodyPr/>
          <a:lstStyle/>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Value champions. </a:t>
            </a:r>
            <a:r>
              <a:rPr cap="none" sz="1500" i="0" b="0" u="none" strike="noStrike">
                <a:solidFill>
                  <a:srgbClr val="3A2A1E">
                    <a:alpha val="100000"/>
                  </a:srgbClr>
                </a:solidFill>
                <a:latin typeface="Calibri"/>
                <a:cs typeface="Calibri"/>
                <a:ea typeface="Calibri"/>
                <a:sym typeface="Calibri"/>
              </a:rPr>
              <a:t>Kakalove Cafe (94.2 at $6.50), JBC Coffee Roasters (93.6 at $6.40) and Red Rooster (94.0 at $5.70) carry deep, high-scoring ranges at low prices.</a:t>
            </a:r>
          </a:p>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Premium showpieces. </a:t>
            </a:r>
            <a:r>
              <a:rPr cap="none" sz="1500" i="0" b="0" u="none" strike="noStrike">
                <a:solidFill>
                  <a:srgbClr val="3A2A1E">
                    <a:alpha val="100000"/>
                  </a:srgbClr>
                </a:solidFill>
                <a:latin typeface="Calibri"/>
                <a:cs typeface="Calibri"/>
                <a:ea typeface="Calibri"/>
                <a:sym typeface="Calibri"/>
              </a:rPr>
              <a:t>Hula Daddy Kona (95.1, top-rated), Dragonfly (94.2, richest profile) and Bird Rock (94.2) for the feature shelf.</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57200" y="274320"/>
            <a:ext cx="8229600" cy="274320"/>
          </a:xfrm>
        </p:spPr>
        <p:txBody>
          <a:bodyPr/>
          <a:lstStyle/>
          <a:p>
            <a:pPr algn="l" marL="0" marR="0">
              <a:lnSpc>
                <a:spcPct val="100000"/>
              </a:lnSpc>
              <a:spcBef>
                <a:spcPts val="0"/>
              </a:spcBef>
              <a:spcAft>
                <a:spcPts val="0"/>
              </a:spcAft>
              <a:buNone/>
            </a:pPr>
            <a:r>
              <a:rPr cap="none" sz="1200" i="0" b="1" u="none" strike="noStrike">
                <a:solidFill>
                  <a:srgbClr val="C75B39">
                    <a:alpha val="100000"/>
                  </a:srgbClr>
                </a:solidFill>
                <a:latin typeface="Calibri"/>
                <a:cs typeface="Calibri"/>
                <a:ea typeface="Calibri"/>
                <a:sym typeface="Calibri"/>
              </a:rPr>
              <a:t>PUTTING IT TOGETHER</a:t>
            </a:r>
          </a:p>
        </p:txBody>
      </p:sp>
      <p:sp>
        <p:nvSpPr>
          <p:cNvPr id="3" name=""/>
          <p:cNvSpPr>
            <a:spLocks noGrp="1"/>
          </p:cNvSpPr>
          <p:nvPr>
            <p:ph/>
          </p:nvPr>
        </p:nvSpPr>
        <p:spPr>
          <a:xfrm>
            <a:off x="457200" y="502920"/>
            <a:ext cx="8229600" cy="640080"/>
          </a:xfrm>
        </p:spPr>
        <p:txBody>
          <a:bodyPr/>
          <a:lstStyle/>
          <a:p>
            <a:pPr algn="l" marL="0" marR="0">
              <a:lnSpc>
                <a:spcPct val="100000"/>
              </a:lnSpc>
              <a:spcBef>
                <a:spcPts val="0"/>
              </a:spcBef>
              <a:spcAft>
                <a:spcPts val="0"/>
              </a:spcAft>
              <a:buNone/>
            </a:pPr>
            <a:r>
              <a:rPr cap="none" sz="3000" i="0" b="1" u="none" strike="noStrike">
                <a:solidFill>
                  <a:srgbClr val="2E1D14">
                    <a:alpha val="100000"/>
                  </a:srgbClr>
                </a:solidFill>
                <a:latin typeface="Cambria"/>
                <a:cs typeface="Cambria"/>
                <a:ea typeface="Cambria"/>
                <a:sym typeface="Cambria"/>
              </a:rPr>
              <a:t>A starter range for the shop</a:t>
            </a:r>
          </a:p>
        </p:txBody>
      </p:sp>
      <p:graphicFrame>
        <p:nvGraphicFramePr>
          <p:cNvPr id="4" name=""/>
          <p:cNvGraphicFramePr>
            <a:graphicFrameLocks noGrp="true"/>
          </p:cNvGraphicFramePr>
          <p:nvPr/>
        </p:nvGraphicFramePr>
        <p:xfrm rot="0">
          <a:off x="457200" y="1463040"/>
          <a:ext cx="8229600" cy="3657600"/>
        </p:xfrm>
        <a:graphic>
          <a:graphicData uri="http://schemas.openxmlformats.org/drawingml/2006/table">
            <a:tbl>
              <a:tblPr/>
              <a:tblGrid>
                <a:gridCol w="1645920"/>
                <a:gridCol w="2194560"/>
                <a:gridCol w="3291840"/>
                <a:gridCol w="1554480"/>
              </a:tblGrid>
              <a:tr h="228600">
                <a:tc>
                  <a:txBody>
                    <a:bodyPr/>
                    <a:lstStyle/>
                    <a:p>
                      <a:pPr algn="l" marL="63500" marR="63500">
                        <a:lnSpc>
                          <a:spcPct val="100000"/>
                        </a:lnSpc>
                        <a:spcBef>
                          <a:spcPts val="500"/>
                        </a:spcBef>
                        <a:spcAft>
                          <a:spcPts val="500"/>
                        </a:spcAft>
                        <a:buNone/>
                      </a:pPr>
                      <a:r>
                        <a:rPr cap="none" sz="1200" i="0" b="1" u="none" strike="noStrike">
                          <a:solidFill>
                            <a:srgbClr val="FFFFFF">
                              <a:alpha val="100000"/>
                            </a:srgbClr>
                          </a:solidFill>
                          <a:latin typeface="Calibri"/>
                          <a:cs typeface="Calibri"/>
                          <a:ea typeface="Calibri"/>
                          <a:sym typeface="Calibri"/>
                        </a:rPr>
                        <a:t>Shelf</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7B4B2A">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FFFFFF">
                              <a:alpha val="100000"/>
                            </a:srgbClr>
                          </a:solidFill>
                          <a:latin typeface="Calibri"/>
                          <a:cs typeface="Calibri"/>
                          <a:ea typeface="Calibri"/>
                          <a:sym typeface="Calibri"/>
                        </a:rPr>
                        <a:t>Origin &amp; roast</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7B4B2A">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FFFFFF">
                              <a:alpha val="100000"/>
                            </a:srgbClr>
                          </a:solidFill>
                          <a:latin typeface="Calibri"/>
                          <a:cs typeface="Calibri"/>
                          <a:ea typeface="Calibri"/>
                          <a:sym typeface="Calibri"/>
                        </a:rPr>
                        <a:t>Why it earns its place</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7B4B2A">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FFFFFF">
                              <a:alpha val="100000"/>
                            </a:srgbClr>
                          </a:solidFill>
                          <a:latin typeface="Calibri"/>
                          <a:cs typeface="Calibri"/>
                          <a:ea typeface="Calibri"/>
                          <a:sym typeface="Calibri"/>
                        </a:rPr>
                        <a:t>Buy from</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7B4B2A">
                        <a:alpha val="100000"/>
                      </a:srgbClr>
                    </a:solidFill>
                  </a:tcPr>
                </a:tc>
              </a:tr>
              <a:tr h="228600">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Everyday hero</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0">
                      <a:noFill/>
                      <a:prstDash val="solid"/>
                    </a:lnT>
                    <a:lnB algn="ctr" cmpd="sng" cap="flat" w="12700">
                      <a:solidFill>
                        <a:srgbClr val="CDC0B0">
                          <a:alpha val="100000"/>
                        </a:srgbClr>
                      </a:solidFill>
                      <a:prstDash val="solid"/>
                    </a:lnB>
                    <a:solidFill>
                      <a:srgbClr val="F6EFE7">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Kenya, light</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0">
                      <a:noFill/>
                      <a:prstDash val="solid"/>
                    </a:lnT>
                    <a:lnB algn="ctr" cmpd="sng" cap="flat" w="12700">
                      <a:solidFill>
                        <a:srgbClr val="CDC0B0">
                          <a:alpha val="100000"/>
                        </a:srgbClr>
                      </a:solidFill>
                      <a:prstDash val="solid"/>
                    </a:lnB>
                    <a:solidFill>
                      <a:srgbClr val="F6EFE7">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93.8 rating at about $7, juicy and bright</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0">
                      <a:noFill/>
                      <a:prstDash val="solid"/>
                    </a:lnT>
                    <a:lnB algn="ctr" cmpd="sng" cap="flat" w="12700">
                      <a:solidFill>
                        <a:srgbClr val="CDC0B0">
                          <a:alpha val="100000"/>
                        </a:srgbClr>
                      </a:solidFill>
                      <a:prstDash val="solid"/>
                    </a:lnB>
                    <a:solidFill>
                      <a:srgbClr val="F6EFE7">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Kakalove, JBC</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0">
                      <a:noFill/>
                      <a:prstDash val="solid"/>
                    </a:lnT>
                    <a:lnB algn="ctr" cmpd="sng" cap="flat" w="12700">
                      <a:solidFill>
                        <a:srgbClr val="CDC0B0">
                          <a:alpha val="100000"/>
                        </a:srgbClr>
                      </a:solidFill>
                      <a:prstDash val="solid"/>
                    </a:lnB>
                    <a:solidFill>
                      <a:srgbClr val="F6EFE7">
                        <a:alpha val="100000"/>
                      </a:srgbClr>
                    </a:solidFill>
                  </a:tcPr>
                </a:tc>
              </a:tr>
              <a:tr h="228600">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Deep bench</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Ethiopia, medium-light</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93.1 rating, floral, the widest choice</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JBC, Red Rooster</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0"/>
                      </a:srgbClr>
                    </a:solidFill>
                  </a:tcPr>
                </a:tc>
              </a:tr>
              <a:tr h="228600">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Value surprise</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6EFE7">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Indonesia, medium-light</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6EFE7">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93.0 rating at the lowest cost, $5.30</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6EFE7">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Kakalove, Red Rooster</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6EFE7">
                        <a:alpha val="100000"/>
                      </a:srgbClr>
                    </a:solidFill>
                  </a:tcPr>
                </a:tc>
              </a:tr>
              <a:tr h="228600">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Premium pour</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Panama or Hawaii, light</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94+ showpiece for the feature menu</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Hula Daddy, Dragonfly</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457200" y="6126480"/>
            <a:ext cx="8229600" cy="274320"/>
          </a:xfrm>
        </p:spPr>
        <p:txBody>
          <a:bodyPr/>
          <a:lstStyle/>
          <a:p>
            <a:pPr algn="l" marL="0" marR="0">
              <a:lnSpc>
                <a:spcPct val="100000"/>
              </a:lnSpc>
              <a:spcBef>
                <a:spcPts val="0"/>
              </a:spcBef>
              <a:spcAft>
                <a:spcPts val="0"/>
              </a:spcAft>
              <a:buNone/>
            </a:pPr>
            <a:r>
              <a:rPr cap="none" sz="1100" i="1" b="0" u="none" strike="noStrike">
                <a:solidFill>
                  <a:srgbClr val="8A7560">
                    <a:alpha val="100000"/>
                  </a:srgbClr>
                </a:solidFill>
                <a:latin typeface="Calibri"/>
                <a:cs typeface="Calibri"/>
                <a:ea typeface="Calibri"/>
                <a:sym typeface="Calibri"/>
              </a:rPr>
              <a:t>Ratings and prices are catalogue averages across the reviewed coffees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57200" y="365760"/>
            <a:ext cx="8229600" cy="274320"/>
          </a:xfrm>
        </p:spPr>
        <p:txBody>
          <a:bodyPr/>
          <a:lstStyle/>
          <a:p>
            <a:pPr algn="l" marL="0" marR="0">
              <a:lnSpc>
                <a:spcPct val="100000"/>
              </a:lnSpc>
              <a:spcBef>
                <a:spcPts val="0"/>
              </a:spcBef>
              <a:spcAft>
                <a:spcPts val="0"/>
              </a:spcAft>
              <a:buNone/>
            </a:pPr>
            <a:r>
              <a:rPr cap="none" sz="1200" i="0" b="1" u="none" strike="noStrike">
                <a:solidFill>
                  <a:srgbClr val="C75B39">
                    <a:alpha val="100000"/>
                  </a:srgbClr>
                </a:solidFill>
                <a:latin typeface="Calibri"/>
                <a:cs typeface="Calibri"/>
                <a:ea typeface="Calibri"/>
                <a:sym typeface="Calibri"/>
              </a:rPr>
              <a:t>THE BUYING RECIPE</a:t>
            </a:r>
          </a:p>
        </p:txBody>
      </p:sp>
      <p:sp>
        <p:nvSpPr>
          <p:cNvPr id="3" name=""/>
          <p:cNvSpPr>
            <a:spLocks noGrp="1"/>
          </p:cNvSpPr>
          <p:nvPr>
            <p:ph/>
          </p:nvPr>
        </p:nvSpPr>
        <p:spPr>
          <a:xfrm>
            <a:off x="457200" y="640080"/>
            <a:ext cx="8229600" cy="914400"/>
          </a:xfrm>
        </p:spPr>
        <p:txBody>
          <a:bodyPr/>
          <a:lstStyle/>
          <a:p>
            <a:pPr algn="l" marL="0" marR="0">
              <a:lnSpc>
                <a:spcPct val="100000"/>
              </a:lnSpc>
              <a:spcBef>
                <a:spcPts val="0"/>
              </a:spcBef>
              <a:spcAft>
                <a:spcPts val="0"/>
              </a:spcAft>
              <a:buNone/>
            </a:pPr>
            <a:r>
              <a:rPr cap="none" sz="3000" i="0" b="1" u="none" strike="noStrike">
                <a:solidFill>
                  <a:srgbClr val="2E1D14">
                    <a:alpha val="100000"/>
                  </a:srgbClr>
                </a:solidFill>
                <a:latin typeface="Cambria"/>
                <a:cs typeface="Cambria"/>
                <a:ea typeface="Cambria"/>
                <a:sym typeface="Cambria"/>
              </a:rPr>
              <a:t>Five moves to a shelf that pours above its price</a:t>
            </a:r>
          </a:p>
        </p:txBody>
      </p:sp>
      <p:sp>
        <p:nvSpPr>
          <p:cNvPr id="4" name=""/>
          <p:cNvSpPr>
            <a:spLocks noGrp="1"/>
          </p:cNvSpPr>
          <p:nvPr>
            <p:ph/>
          </p:nvPr>
        </p:nvSpPr>
        <p:spPr>
          <a:xfrm>
            <a:off x="457200" y="1920240"/>
            <a:ext cx="8229600" cy="4389120"/>
          </a:xfrm>
        </p:spPr>
        <p:txBody>
          <a:bodyPr/>
          <a:lstStyle/>
          <a:p>
            <a:pPr algn="l" marL="0" marR="0">
              <a:lnSpc>
                <a:spcPct val="115000"/>
              </a:lnSpc>
              <a:spcBef>
                <a:spcPts val="0"/>
              </a:spcBef>
              <a:spcAft>
                <a:spcPts val="800"/>
              </a:spcAft>
              <a:buNone/>
            </a:pPr>
            <a:r>
              <a:rPr cap="none" sz="1600" i="0" b="1" u="none" strike="noStrike">
                <a:solidFill>
                  <a:srgbClr val="2E1D14">
                    <a:alpha val="100000"/>
                  </a:srgbClr>
                </a:solidFill>
                <a:latin typeface="Calibri"/>
                <a:cs typeface="Calibri"/>
                <a:ea typeface="Calibri"/>
                <a:sym typeface="Calibri"/>
              </a:rPr>
              <a:t>1.  Roast.  </a:t>
            </a:r>
            <a:r>
              <a:rPr cap="none" sz="1600" i="0" b="0" u="none" strike="noStrike">
                <a:solidFill>
                  <a:srgbClr val="3A2A1E">
                    <a:alpha val="100000"/>
                  </a:srgbClr>
                </a:solidFill>
                <a:latin typeface="Calibri"/>
                <a:cs typeface="Calibri"/>
                <a:ea typeface="Calibri"/>
                <a:sym typeface="Calibri"/>
              </a:rPr>
              <a:t>Build the core range light and medium-light. They rate highest and keep the origin character.</a:t>
            </a:r>
          </a:p>
          <a:p>
            <a:pPr algn="l" marL="0" marR="0">
              <a:lnSpc>
                <a:spcPct val="115000"/>
              </a:lnSpc>
              <a:spcBef>
                <a:spcPts val="0"/>
              </a:spcBef>
              <a:spcAft>
                <a:spcPts val="800"/>
              </a:spcAft>
              <a:buNone/>
            </a:pPr>
            <a:r>
              <a:rPr cap="none" sz="1600" i="0" b="1" u="none" strike="noStrike">
                <a:solidFill>
                  <a:srgbClr val="2E1D14">
                    <a:alpha val="100000"/>
                  </a:srgbClr>
                </a:solidFill>
                <a:latin typeface="Calibri"/>
                <a:cs typeface="Calibri"/>
                <a:ea typeface="Calibri"/>
                <a:sym typeface="Calibri"/>
              </a:rPr>
              <a:t>2.  Region.  </a:t>
            </a:r>
            <a:r>
              <a:rPr cap="none" sz="1600" i="0" b="0" u="none" strike="noStrike">
                <a:solidFill>
                  <a:srgbClr val="3A2A1E">
                    <a:alpha val="100000"/>
                  </a:srgbClr>
                </a:solidFill>
                <a:latin typeface="Calibri"/>
                <a:cs typeface="Calibri"/>
                <a:ea typeface="Calibri"/>
                <a:sym typeface="Calibri"/>
              </a:rPr>
              <a:t>Lead with Kenya and Ethiopia for 93+ cups at about a fifth of premium prices.</a:t>
            </a:r>
          </a:p>
          <a:p>
            <a:pPr algn="l" marL="0" marR="0">
              <a:lnSpc>
                <a:spcPct val="115000"/>
              </a:lnSpc>
              <a:spcBef>
                <a:spcPts val="0"/>
              </a:spcBef>
              <a:spcAft>
                <a:spcPts val="800"/>
              </a:spcAft>
              <a:buNone/>
            </a:pPr>
            <a:r>
              <a:rPr cap="none" sz="1600" i="0" b="1" u="none" strike="noStrike">
                <a:solidFill>
                  <a:srgbClr val="2E1D14">
                    <a:alpha val="100000"/>
                  </a:srgbClr>
                </a:solidFill>
                <a:latin typeface="Calibri"/>
                <a:cs typeface="Calibri"/>
                <a:ea typeface="Calibri"/>
                <a:sym typeface="Calibri"/>
              </a:rPr>
              <a:t>3.  Flavour.  </a:t>
            </a:r>
            <a:r>
              <a:rPr cap="none" sz="1600" i="0" b="0" u="none" strike="noStrike">
                <a:solidFill>
                  <a:srgbClr val="3A2A1E">
                    <a:alpha val="100000"/>
                  </a:srgbClr>
                </a:solidFill>
                <a:latin typeface="Calibri"/>
                <a:cs typeface="Calibri"/>
                <a:ea typeface="Calibri"/>
                <a:sym typeface="Calibri"/>
              </a:rPr>
              <a:t>Choose lots that read juicy, syrupy, floral and bright, the mark of the very best.</a:t>
            </a:r>
          </a:p>
          <a:p>
            <a:pPr algn="l" marL="0" marR="0">
              <a:lnSpc>
                <a:spcPct val="115000"/>
              </a:lnSpc>
              <a:spcBef>
                <a:spcPts val="0"/>
              </a:spcBef>
              <a:spcAft>
                <a:spcPts val="800"/>
              </a:spcAft>
              <a:buNone/>
            </a:pPr>
            <a:r>
              <a:rPr cap="none" sz="1600" i="0" b="1" u="none" strike="noStrike">
                <a:solidFill>
                  <a:srgbClr val="2E1D14">
                    <a:alpha val="100000"/>
                  </a:srgbClr>
                </a:solidFill>
                <a:latin typeface="Calibri"/>
                <a:cs typeface="Calibri"/>
                <a:ea typeface="Calibri"/>
                <a:sym typeface="Calibri"/>
              </a:rPr>
              <a:t>4.  Suppliers.  </a:t>
            </a:r>
            <a:r>
              <a:rPr cap="none" sz="1600" i="0" b="0" u="none" strike="noStrike">
                <a:solidFill>
                  <a:srgbClr val="3A2A1E">
                    <a:alpha val="100000"/>
                  </a:srgbClr>
                </a:solidFill>
                <a:latin typeface="Calibri"/>
                <a:cs typeface="Calibri"/>
                <a:ea typeface="Calibri"/>
                <a:sym typeface="Calibri"/>
              </a:rPr>
              <a:t>Anchor on Kakalove, JBC and Red Rooster for value, with Hula Daddy and Dragonfly as showpieces.</a:t>
            </a:r>
          </a:p>
          <a:p>
            <a:pPr algn="l" marL="0" marR="0">
              <a:lnSpc>
                <a:spcPct val="115000"/>
              </a:lnSpc>
              <a:spcBef>
                <a:spcPts val="0"/>
              </a:spcBef>
              <a:spcAft>
                <a:spcPts val="800"/>
              </a:spcAft>
              <a:buNone/>
            </a:pPr>
            <a:r>
              <a:rPr cap="none" sz="1600" i="0" b="1" u="none" strike="noStrike">
                <a:solidFill>
                  <a:srgbClr val="2E1D14">
                    <a:alpha val="100000"/>
                  </a:srgbClr>
                </a:solidFill>
                <a:latin typeface="Calibri"/>
                <a:cs typeface="Calibri"/>
                <a:ea typeface="Calibri"/>
                <a:sym typeface="Calibri"/>
              </a:rPr>
              <a:t>5.  Price.  </a:t>
            </a:r>
            <a:r>
              <a:rPr cap="none" sz="1600" i="0" b="0" u="none" strike="noStrike">
                <a:solidFill>
                  <a:srgbClr val="3A2A1E">
                    <a:alpha val="100000"/>
                  </a:srgbClr>
                </a:solidFill>
                <a:latin typeface="Calibri"/>
                <a:cs typeface="Calibri"/>
                <a:ea typeface="Calibri"/>
                <a:sym typeface="Calibri"/>
              </a:rPr>
              <a:t>Most quality sits near $6 to $7 per 100g, so a strong everyday menu need not be expensive.</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diaz</cp:lastModifiedBy>
  <cp:revision>3</cp:revision>
  <dcterms:created xsi:type="dcterms:W3CDTF">2017-02-13T16:18:36Z</dcterms:created>
  <dcterms:modified xsi:type="dcterms:W3CDTF">2026-06-17T14:47:18Z</dcterms:modified>
  <cp:category/>
</cp:coreProperties>
</file>