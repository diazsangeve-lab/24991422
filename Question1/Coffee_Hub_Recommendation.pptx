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9"/>
    <p:sldId id="258" r:id="rId10"/>
    <p:sldId id="259" r:id="rId11"/>
    <p:sldId id="260" r:id="rId12"/>
    <p:sldId id="261" r:id="rId13"/>
    <p:sldId id="262" r:id="rId14"/>
    <p:sldId id="263" r:id="rId15"/>
    <p:sldId id="264" r:id="rId16"/>
  </p:sldIdLst>
  <p:sldSz cx="9144000" cy="6858000" type="screen4x3"/>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2aa2b2db5b9d4abd42d8a6fe3acd52f0a3b6333.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2faca5aa623693d42d915360b58a1417e182263.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f35a4c01cf6501da49e2974b2921add2d3b1a919.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70bb7deeeea1497af9f79603f425dfc47ef09e4.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5c0f68a1b7743d999e99420aad6b9c8154f2add.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1463040"/>
            <a:ext cx="8229600" cy="36576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DATA-DRIVEN COFFEE PROCUREMENT STRATEGY</a:t>
            </a:r>
          </a:p>
        </p:txBody>
      </p:sp>
      <p:sp>
        <p:nvSpPr>
          <p:cNvPr id="3" name=""/>
          <p:cNvSpPr>
            <a:spLocks noGrp="1"/>
          </p:cNvSpPr>
          <p:nvPr>
            <p:ph/>
          </p:nvPr>
        </p:nvSpPr>
        <p:spPr>
          <a:xfrm>
            <a:off x="457200" y="1920240"/>
            <a:ext cx="8229600" cy="1097280"/>
          </a:xfrm>
        </p:spPr>
        <p:txBody>
          <a:bodyPr/>
          <a:lstStyle/>
          <a:p>
            <a:pPr algn="l" marL="0" marR="0">
              <a:lnSpc>
                <a:spcPct val="100000"/>
              </a:lnSpc>
              <a:spcBef>
                <a:spcPts val="0"/>
              </a:spcBef>
              <a:spcAft>
                <a:spcPts val="0"/>
              </a:spcAft>
              <a:buNone/>
            </a:pPr>
            <a:r>
              <a:rPr cap="none" sz="4800" i="0" b="1" u="none" strike="noStrike">
                <a:solidFill>
                  <a:srgbClr val="2E1D14">
                    <a:alpha val="100000"/>
                  </a:srgbClr>
                </a:solidFill>
                <a:latin typeface="Cambria"/>
                <a:cs typeface="Cambria"/>
                <a:ea typeface="Cambria"/>
                <a:sym typeface="Cambria"/>
              </a:rPr>
              <a:t>Stocking The Neelsie Coffee Hub</a:t>
            </a:r>
          </a:p>
        </p:txBody>
      </p:sp>
      <p:sp>
        <p:nvSpPr>
          <p:cNvPr id="4" name=""/>
          <p:cNvSpPr>
            <a:spLocks noGrp="1"/>
          </p:cNvSpPr>
          <p:nvPr>
            <p:ph/>
          </p:nvPr>
        </p:nvSpPr>
        <p:spPr>
          <a:xfrm>
            <a:off x="457200" y="3657600"/>
            <a:ext cx="7498080" cy="1097280"/>
          </a:xfrm>
        </p:spPr>
        <p:txBody>
          <a:bodyPr/>
          <a:lstStyle/>
          <a:p>
            <a:pPr algn="l" marL="0" marR="0">
              <a:lnSpc>
                <a:spcPct val="100000"/>
              </a:lnSpc>
              <a:spcBef>
                <a:spcPts val="0"/>
              </a:spcBef>
              <a:spcAft>
                <a:spcPts val="0"/>
              </a:spcAft>
              <a:buNone/>
            </a:pPr>
            <a:r>
              <a:rPr cap="none" sz="1600" i="0" b="0" u="none" strike="noStrike">
                <a:solidFill>
                  <a:srgbClr val="3A2A1E">
                    <a:alpha val="100000"/>
                  </a:srgbClr>
                </a:solidFill>
                <a:latin typeface="Calibri"/>
                <a:cs typeface="Calibri"/>
                <a:ea typeface="Calibri"/>
                <a:sym typeface="Calibri"/>
              </a:rPr>
              <a:t>This presentation explores optimal coffee selections, regional sourcing strategies, and preferred suppliers. The findings indicate the best options by evaluating a database of expert-reviewed coffees alongside the specific preferences of Stellenbosch University students.</a:t>
            </a:r>
          </a:p>
        </p:txBody>
      </p:sp>
      <p:sp>
        <p:nvSpPr>
          <p:cNvPr id="5" name=""/>
          <p:cNvSpPr>
            <a:spLocks noGrp="1"/>
          </p:cNvSpPr>
          <p:nvPr>
            <p:ph/>
          </p:nvPr>
        </p:nvSpPr>
        <p:spPr>
          <a:xfrm>
            <a:off x="457200" y="6126480"/>
            <a:ext cx="8229600" cy="365760"/>
          </a:xfrm>
        </p:spPr>
        <p:txBody>
          <a:bodyPr/>
          <a:lstStyle/>
          <a:p>
            <a:pPr algn="l" marL="0" marR="0">
              <a:lnSpc>
                <a:spcPct val="100000"/>
              </a:lnSpc>
              <a:spcBef>
                <a:spcPts val="0"/>
              </a:spcBef>
              <a:spcAft>
                <a:spcPts val="0"/>
              </a:spcAft>
              <a:buNone/>
            </a:pPr>
            <a:r>
              <a:rPr cap="none" sz="1100" i="0" b="0" u="none" strike="noStrike">
                <a:solidFill>
                  <a:srgbClr val="8A7560">
                    <a:alpha val="100000"/>
                  </a:srgbClr>
                </a:solidFill>
                <a:latin typeface="Calibri"/>
                <a:cs typeface="Calibri"/>
                <a:ea typeface="Calibri"/>
                <a:sym typeface="Calibri"/>
              </a:rPr>
              <a:t>Prepared for the Neelsie Coffee Project by Diaz Sangeve   ·  Student Number - 24991422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METHODOLOGICAL APPROACH</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Data Aggregation and Evaluation Strategy</a:t>
            </a:r>
          </a:p>
        </p:txBody>
      </p:sp>
      <p:graphicFrame>
        <p:nvGraphicFramePr>
          <p:cNvPr id="4" name=""/>
          <p:cNvGraphicFramePr>
            <a:graphicFrameLocks noGrp="true"/>
          </p:cNvGraphicFramePr>
          <p:nvPr/>
        </p:nvGraphicFramePr>
        <p:xfrm rot="0">
          <a:off x="457200" y="1371600"/>
          <a:ext cx="8229600" cy="1097280"/>
        </p:xfrm>
        <a:graphic>
          <a:graphicData uri="http://schemas.openxmlformats.org/drawingml/2006/table">
            <a:tbl>
              <a:tblPr/>
              <a:tblGrid>
                <a:gridCol w="2057400"/>
                <a:gridCol w="2057400"/>
                <a:gridCol w="2057400"/>
                <a:gridCol w="2057400"/>
              </a:tblGrid>
              <a:tr h="228600">
                <a:tc>
                  <a:txBody>
                    <a:bodyPr/>
                    <a:lstStyle/>
                    <a:p>
                      <a:pPr algn="ctr" marL="63500" marR="63500">
                        <a:lnSpc>
                          <a:spcPct val="100000"/>
                        </a:lnSpc>
                        <a:spcBef>
                          <a:spcPts val="500"/>
                        </a:spcBef>
                        <a:spcAft>
                          <a:spcPts val="500"/>
                        </a:spcAft>
                        <a:buNone/>
                      </a:pPr>
                      <a:r>
                        <a:rPr cap="none" sz="2200" i="0" b="1" u="none" strike="noStrike">
                          <a:solidFill>
                            <a:srgbClr val="C75B39">
                              <a:alpha val="100000"/>
                            </a:srgbClr>
                          </a:solidFill>
                          <a:latin typeface="Calibri"/>
                          <a:cs typeface="Calibri"/>
                          <a:ea typeface="Calibri"/>
                          <a:sym typeface="Calibri"/>
                        </a:rPr>
                        <a:t>2,095</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100000"/>
                      </a:srgbClr>
                    </a:solidFill>
                  </a:tcPr>
                </a:tc>
                <a:tc>
                  <a:txBody>
                    <a:bodyPr/>
                    <a:lstStyle/>
                    <a:p>
                      <a:pPr algn="ctr" marL="63500" marR="63500">
                        <a:lnSpc>
                          <a:spcPct val="100000"/>
                        </a:lnSpc>
                        <a:spcBef>
                          <a:spcPts val="500"/>
                        </a:spcBef>
                        <a:spcAft>
                          <a:spcPts val="500"/>
                        </a:spcAft>
                        <a:buNone/>
                      </a:pPr>
                      <a:r>
                        <a:rPr cap="none" sz="2200" i="0" b="1" u="none" strike="noStrike">
                          <a:solidFill>
                            <a:srgbClr val="C75B39">
                              <a:alpha val="100000"/>
                            </a:srgbClr>
                          </a:solidFill>
                          <a:latin typeface="Calibri"/>
                          <a:cs typeface="Calibri"/>
                          <a:ea typeface="Calibri"/>
                          <a:sym typeface="Calibri"/>
                        </a:rPr>
                        <a:t>3</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100000"/>
                      </a:srgbClr>
                    </a:solidFill>
                  </a:tcPr>
                </a:tc>
                <a:tc>
                  <a:txBody>
                    <a:bodyPr/>
                    <a:lstStyle/>
                    <a:p>
                      <a:pPr algn="ctr" marL="63500" marR="63500">
                        <a:lnSpc>
                          <a:spcPct val="100000"/>
                        </a:lnSpc>
                        <a:spcBef>
                          <a:spcPts val="500"/>
                        </a:spcBef>
                        <a:spcAft>
                          <a:spcPts val="500"/>
                        </a:spcAft>
                        <a:buNone/>
                      </a:pPr>
                      <a:r>
                        <a:rPr cap="none" sz="2200" i="0" b="1" u="none" strike="noStrike">
                          <a:solidFill>
                            <a:srgbClr val="C75B39">
                              <a:alpha val="100000"/>
                            </a:srgbClr>
                          </a:solidFill>
                          <a:latin typeface="Calibri"/>
                          <a:cs typeface="Calibri"/>
                          <a:ea typeface="Calibri"/>
                          <a:sym typeface="Calibri"/>
                        </a:rPr>
                        <a:t>84-98</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100000"/>
                      </a:srgbClr>
                    </a:solidFill>
                  </a:tcPr>
                </a:tc>
                <a:tc>
                  <a:txBody>
                    <a:bodyPr/>
                    <a:lstStyle/>
                    <a:p>
                      <a:pPr algn="ctr" marL="63500" marR="63500">
                        <a:lnSpc>
                          <a:spcPct val="100000"/>
                        </a:lnSpc>
                        <a:spcBef>
                          <a:spcPts val="500"/>
                        </a:spcBef>
                        <a:spcAft>
                          <a:spcPts val="500"/>
                        </a:spcAft>
                        <a:buNone/>
                      </a:pPr>
                      <a:r>
                        <a:rPr cap="none" sz="2200" i="0" b="1" u="none" strike="noStrike">
                          <a:solidFill>
                            <a:srgbClr val="C75B39">
                              <a:alpha val="100000"/>
                            </a:srgbClr>
                          </a:solidFill>
                          <a:latin typeface="Calibri"/>
                          <a:cs typeface="Calibri"/>
                          <a:ea typeface="Calibri"/>
                          <a:sym typeface="Calibri"/>
                        </a:rPr>
                        <a:t>12</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100000"/>
                      </a:srgbClr>
                    </a:solidFill>
                  </a:tcPr>
                </a:tc>
              </a:tr>
              <a:tr h="228600">
                <a:tc>
                  <a:txBody>
                    <a:bodyPr/>
                    <a:lstStyle/>
                    <a:p>
                      <a:pPr algn="ctr"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Coffees Reviewed</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CDC0B0">
                        <a:alpha val="100000"/>
                      </a:srgbClr>
                    </a:solidFill>
                  </a:tcPr>
                </a:tc>
                <a:tc>
                  <a:txBody>
                    <a:bodyPr/>
                    <a:lstStyle/>
                    <a:p>
                      <a:pPr algn="ctr"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Expert Reviews Per Coffee</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CDC0B0">
                        <a:alpha val="100000"/>
                      </a:srgbClr>
                    </a:solidFill>
                  </a:tcPr>
                </a:tc>
                <a:tc>
                  <a:txBody>
                    <a:bodyPr/>
                    <a:lstStyle/>
                    <a:p>
                      <a:pPr algn="ctr"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Rating Range</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CDC0B0">
                        <a:alpha val="100000"/>
                      </a:srgbClr>
                    </a:solidFill>
                  </a:tcPr>
                </a:tc>
                <a:tc>
                  <a:txBody>
                    <a:bodyPr/>
                    <a:lstStyle/>
                    <a:p>
                      <a:pPr algn="ctr"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Indicator Words Derived</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CDC0B0">
                        <a:alpha val="100000"/>
                      </a:srgbClr>
                    </a:solidFill>
                  </a:tcPr>
                </a:tc>
              </a:tr>
            </a:tbl>
          </a:graphicData>
        </a:graphic>
      </p:graphicFrame>
      <p:sp>
        <p:nvSpPr>
          <p:cNvPr id="5" name=""/>
          <p:cNvSpPr>
            <a:spLocks noGrp="1"/>
          </p:cNvSpPr>
          <p:nvPr>
            <p:ph/>
          </p:nvPr>
        </p:nvSpPr>
        <p:spPr>
          <a:xfrm>
            <a:off x="457200" y="2834640"/>
            <a:ext cx="8229600" cy="3474720"/>
          </a:xfrm>
        </p:spPr>
        <p:txBody>
          <a:bodyPr/>
          <a:lstStyle/>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Data Attributes. </a:t>
            </a:r>
            <a:r>
              <a:rPr cap="none" sz="1500" i="0" b="0" u="none" strike="noStrike">
                <a:solidFill>
                  <a:srgbClr val="3A2A1E">
                    <a:alpha val="100000"/>
                  </a:srgbClr>
                </a:solidFill>
                <a:latin typeface="Calibri"/>
                <a:cs typeface="Calibri"/>
                <a:ea typeface="Calibri"/>
                <a:sym typeface="Calibri"/>
              </a:rPr>
              <a:t>The dataset records the roaster, bean origin, roast strength, cost per 100g, an expert rating and three tasting reviews for each coffee.</a:t>
            </a:r>
          </a:p>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Indicator Words. </a:t>
            </a:r>
            <a:r>
              <a:rPr cap="none" sz="1500" i="0" b="0" u="none" strike="noStrike">
                <a:solidFill>
                  <a:srgbClr val="3A2A1E">
                    <a:alpha val="100000"/>
                  </a:srgbClr>
                </a:solidFill>
                <a:latin typeface="Calibri"/>
                <a:cs typeface="Calibri"/>
                <a:ea typeface="Calibri"/>
                <a:sym typeface="Calibri"/>
              </a:rPr>
              <a:t>The entrepreneur mentioned a student survey of favourite-coffee words but did not supply the list, so we derive the indicators from the reviews. Every review word is ranked by how much its presence lifts the expert rating, and the top 12 are kept.</a:t>
            </a:r>
          </a:p>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Validation. </a:t>
            </a:r>
            <a:r>
              <a:rPr cap="none" sz="1500" i="0" b="0" u="none" strike="noStrike">
                <a:solidFill>
                  <a:srgbClr val="3A2A1E">
                    <a:alpha val="100000"/>
                  </a:srgbClr>
                </a:solidFill>
                <a:latin typeface="Calibri"/>
                <a:cs typeface="Calibri"/>
                <a:ea typeface="Calibri"/>
                <a:sym typeface="Calibri"/>
              </a:rPr>
              <a:t>Deriving those words on one half of the coffees and scoring the other half, the count of indicator words tracks the expert rating at a held-out correlation of 0.52, so the signal is real and not a circular artefact.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RECOMMENDATION 1 · ROAST</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Prioritise Lighter Roasts</a:t>
            </a:r>
          </a:p>
        </p:txBody>
      </p:sp>
      <p:pic>
        <p:nvPicPr>
          <p:cNvPr id="4" name="" descr=""/>
          <p:cNvPicPr>
            <a:picLocks noGrp="1"/>
          </p:cNvPicPr>
          <p:nvPr>
            <p:ph/>
          </p:nvPr>
        </p:nvPicPr>
        <p:blipFill>
          <a:blip r:embed="rId2"/>
          <a:stretch>
            <a:fillRect/>
          </a:stretch>
        </p:blipFill>
        <p:spPr>
          <a:xfrm>
            <a:off x="4572000" y="1371600"/>
            <a:ext cx="4206240" cy="4023360"/>
          </a:xfrm>
          <a:prstGeom prst="rect">
            <a:avLst/>
          </a:prstGeom>
        </p:spPr>
      </p:pic>
      <p:sp>
        <p:nvSpPr>
          <p:cNvPr id="5" name=""/>
          <p:cNvSpPr>
            <a:spLocks noGrp="1"/>
          </p:cNvSpPr>
          <p:nvPr>
            <p:ph/>
          </p:nvPr>
        </p:nvSpPr>
        <p:spPr>
          <a:xfrm>
            <a:off x="457200" y="1463040"/>
            <a:ext cx="3840480" cy="4754880"/>
          </a:xfrm>
        </p:spPr>
        <p:txBody>
          <a:bodyPr/>
          <a:lstStyle/>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Lighter roasts win. </a:t>
            </a:r>
            <a:r>
              <a:rPr cap="none" sz="1500" i="0" b="0" u="none" strike="noStrike">
                <a:solidFill>
                  <a:srgbClr val="3A2A1E">
                    <a:alpha val="100000"/>
                  </a:srgbClr>
                </a:solidFill>
                <a:latin typeface="Calibri"/>
                <a:cs typeface="Calibri"/>
                <a:ea typeface="Calibri"/>
                <a:sym typeface="Calibri"/>
              </a:rPr>
              <a:t>Light and medium-light coffees average 93.5 and 93.2, ahead of medium and dark. Light roasting preserves the origin character that the expert reviews consistently reward.</a:t>
            </a:r>
            <a:r>
              <a:rPr cap="none" sz="1500" i="0" b="1" u="none" strike="noStrike">
                <a:solidFill>
                  <a:srgbClr val="2E1D14">
                    <a:alpha val="100000"/>
                  </a:srgbClr>
                </a:solidFill>
                <a:latin typeface="Calibri"/>
                <a:cs typeface="Calibri"/>
                <a:ea typeface="Calibri"/>
                <a:sym typeface="Calibri"/>
              </a:rPr>
              <a:t>Lighter roasts win. </a:t>
            </a:r>
            <a:r>
              <a:rPr cap="none" sz="1500" i="0" b="0" u="none" strike="noStrike">
                <a:solidFill>
                  <a:srgbClr val="3A2A1E">
                    <a:alpha val="100000"/>
                  </a:srgbClr>
                </a:solidFill>
                <a:latin typeface="Calibri"/>
                <a:cs typeface="Calibri"/>
                <a:ea typeface="Calibri"/>
                <a:sym typeface="Calibri"/>
              </a:rPr>
              <a:t>Light and medium-light coffees average NA and NA, ahead of medium and dark. Light roasting preserves the origin character that the expert reviews consistently reward.</a:t>
            </a:r>
          </a:p>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Optimal inventory strategy. </a:t>
            </a:r>
            <a:r>
              <a:rPr cap="none" sz="1500" i="0" b="0" u="none" strike="noStrike">
                <a:solidFill>
                  <a:srgbClr val="3A2A1E">
                    <a:alpha val="100000"/>
                  </a:srgbClr>
                </a:solidFill>
                <a:latin typeface="Calibri"/>
                <a:cs typeface="Calibri"/>
                <a:ea typeface="Calibri"/>
                <a:sym typeface="Calibri"/>
              </a:rPr>
              <a:t>The core range should be built from light and medium-light beans, with a small dark-roast selection kept for specific requests.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SOURCING</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Where the best beans are grown</a:t>
            </a:r>
          </a:p>
        </p:txBody>
      </p:sp>
      <p:pic>
        <p:nvPicPr>
          <p:cNvPr id="4" name="" descr=""/>
          <p:cNvPicPr>
            <a:picLocks noGrp="1"/>
          </p:cNvPicPr>
          <p:nvPr>
            <p:ph/>
          </p:nvPr>
        </p:nvPicPr>
        <p:blipFill>
          <a:blip r:embed="rId2"/>
          <a:stretch>
            <a:fillRect/>
          </a:stretch>
        </p:blipFill>
        <p:spPr>
          <a:xfrm>
            <a:off x="457200" y="1371600"/>
            <a:ext cx="8229600" cy="457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RECOMMENDATION 2 · SOURCING REGION</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Where the value lives</a:t>
            </a:r>
          </a:p>
        </p:txBody>
      </p:sp>
      <p:pic>
        <p:nvPicPr>
          <p:cNvPr id="4" name="" descr=""/>
          <p:cNvPicPr>
            <a:picLocks noGrp="1"/>
          </p:cNvPicPr>
          <p:nvPr>
            <p:ph/>
          </p:nvPr>
        </p:nvPicPr>
        <p:blipFill>
          <a:blip r:embed="rId2"/>
          <a:stretch>
            <a:fillRect/>
          </a:stretch>
        </p:blipFill>
        <p:spPr>
          <a:xfrm>
            <a:off x="457200" y="1371600"/>
            <a:ext cx="4206240" cy="4023360"/>
          </a:xfrm>
          <a:prstGeom prst="rect">
            <a:avLst/>
          </a:prstGeom>
        </p:spPr>
      </p:pic>
      <p:sp>
        <p:nvSpPr>
          <p:cNvPr id="5" name=""/>
          <p:cNvSpPr>
            <a:spLocks noGrp="1"/>
          </p:cNvSpPr>
          <p:nvPr>
            <p:ph/>
          </p:nvPr>
        </p:nvSpPr>
        <p:spPr>
          <a:xfrm>
            <a:off x="4846320" y="1463040"/>
            <a:ext cx="3840480" cy="4754880"/>
          </a:xfrm>
        </p:spPr>
        <p:txBody>
          <a:bodyPr/>
          <a:lstStyle/>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East Africa is the sweet spot. </a:t>
            </a:r>
            <a:r>
              <a:rPr cap="none" sz="1500" i="0" b="0" u="none" strike="noStrike">
                <a:solidFill>
                  <a:srgbClr val="3A2A1E">
                    <a:alpha val="100000"/>
                  </a:srgbClr>
                </a:solidFill>
                <a:latin typeface="Calibri"/>
                <a:cs typeface="Calibri"/>
                <a:ea typeface="Calibri"/>
                <a:sym typeface="Calibri"/>
              </a:rPr>
              <a:t>Kenya averages 93.8 and Ethiopia 93.1, within a point of Panama's 94.3, yet they cost about $6.96 per 100g against Panama's $30.76. Ethiopia also offers the widest choice, with 355 coffees.</a:t>
            </a:r>
          </a:p>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Lead with Kenya and Ethiopia. </a:t>
            </a:r>
            <a:r>
              <a:rPr cap="none" sz="1500" i="0" b="0" u="none" strike="noStrike">
                <a:solidFill>
                  <a:srgbClr val="3A2A1E">
                    <a:alpha val="100000"/>
                  </a:srgbClr>
                </a:solidFill>
                <a:latin typeface="Calibri"/>
                <a:cs typeface="Calibri"/>
                <a:ea typeface="Calibri"/>
                <a:sym typeface="Calibri"/>
              </a:rPr>
              <a:t>Make them the backbone of the menu, with a small premium shelf of Panama and Hawaii as showpieces.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RECOMMENDATION 3 · FLAVOUR PROFILE</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What the best cups taste like</a:t>
            </a:r>
          </a:p>
        </p:txBody>
      </p:sp>
      <p:pic>
        <p:nvPicPr>
          <p:cNvPr id="4" name="" descr=""/>
          <p:cNvPicPr>
            <a:picLocks noGrp="1"/>
          </p:cNvPicPr>
          <p:nvPr>
            <p:ph/>
          </p:nvPr>
        </p:nvPicPr>
        <p:blipFill>
          <a:blip r:embed="rId2"/>
          <a:stretch>
            <a:fillRect/>
          </a:stretch>
        </p:blipFill>
        <p:spPr>
          <a:xfrm>
            <a:off x="4572000" y="1371600"/>
            <a:ext cx="4206240" cy="4023360"/>
          </a:xfrm>
          <a:prstGeom prst="rect">
            <a:avLst/>
          </a:prstGeom>
        </p:spPr>
      </p:pic>
      <p:sp>
        <p:nvSpPr>
          <p:cNvPr id="5" name=""/>
          <p:cNvSpPr>
            <a:spLocks noGrp="1"/>
          </p:cNvSpPr>
          <p:nvPr>
            <p:ph/>
          </p:nvPr>
        </p:nvSpPr>
        <p:spPr>
          <a:xfrm>
            <a:off x="457200" y="1463040"/>
            <a:ext cx="3840480" cy="4754880"/>
          </a:xfrm>
        </p:spPr>
        <p:txBody>
          <a:bodyPr/>
          <a:lstStyle/>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The best cups share a profile. </a:t>
            </a:r>
            <a:r>
              <a:rPr cap="none" sz="1500" i="0" b="0" u="none" strike="noStrike">
                <a:solidFill>
                  <a:srgbClr val="3A2A1E">
                    <a:alpha val="100000"/>
                  </a:srgbClr>
                </a:solidFill>
                <a:latin typeface="Calibri"/>
                <a:cs typeface="Calibri"/>
                <a:ea typeface="Calibri"/>
                <a:sym typeface="Calibri"/>
              </a:rPr>
              <a:t>Ranking review words by rating lift, the strongest markers are frankincense, elegantly, saturated, juicy, carries, laden. Among coffees rating 95 and up, reviews are about 1.9 times as likely to read juicy and 3.2 times as likely to read saturated.</a:t>
            </a:r>
          </a:p>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Buy for these markers. </a:t>
            </a:r>
            <a:r>
              <a:rPr cap="none" sz="1500" i="0" b="0" u="none" strike="noStrike">
                <a:solidFill>
                  <a:srgbClr val="3A2A1E">
                    <a:alpha val="100000"/>
                  </a:srgbClr>
                </a:solidFill>
                <a:latin typeface="Calibri"/>
                <a:cs typeface="Calibri"/>
                <a:ea typeface="Calibri"/>
                <a:sym typeface="Calibri"/>
              </a:rPr>
              <a:t>This juicy, tropical, floral-resinous signature is the washed East African profile. When choosing between lots, let words like frankincense, elegantly, saturated break the tie.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RECOMMENDATION 4 · PREFERRED SUPPLIERS</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Strategic Procurement Options</a:t>
            </a:r>
          </a:p>
        </p:txBody>
      </p:sp>
      <p:pic>
        <p:nvPicPr>
          <p:cNvPr id="4" name="" descr=""/>
          <p:cNvPicPr>
            <a:picLocks noGrp="1"/>
          </p:cNvPicPr>
          <p:nvPr>
            <p:ph/>
          </p:nvPr>
        </p:nvPicPr>
        <p:blipFill>
          <a:blip r:embed="rId2"/>
          <a:stretch>
            <a:fillRect/>
          </a:stretch>
        </p:blipFill>
        <p:spPr>
          <a:xfrm>
            <a:off x="457200" y="1371600"/>
            <a:ext cx="4206240" cy="4023360"/>
          </a:xfrm>
          <a:prstGeom prst="rect">
            <a:avLst/>
          </a:prstGeom>
        </p:spPr>
      </p:pic>
      <p:sp>
        <p:nvSpPr>
          <p:cNvPr id="5" name=""/>
          <p:cNvSpPr>
            <a:spLocks noGrp="1"/>
          </p:cNvSpPr>
          <p:nvPr>
            <p:ph/>
          </p:nvPr>
        </p:nvSpPr>
        <p:spPr>
          <a:xfrm>
            <a:off x="4846320" y="1463040"/>
            <a:ext cx="3840480" cy="4754880"/>
          </a:xfrm>
        </p:spPr>
        <p:txBody>
          <a:bodyPr/>
          <a:lstStyle/>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Value champions. </a:t>
            </a:r>
            <a:r>
              <a:rPr cap="none" sz="1500" i="0" b="0" u="none" strike="noStrike">
                <a:solidFill>
                  <a:srgbClr val="3A2A1E">
                    <a:alpha val="100000"/>
                  </a:srgbClr>
                </a:solidFill>
                <a:latin typeface="Calibri"/>
                <a:cs typeface="Calibri"/>
                <a:ea typeface="Calibri"/>
                <a:sym typeface="Calibri"/>
              </a:rPr>
              <a:t>Red Rooster Coffee Roaster (94.0 at $5.70), JBC Coffee Roasters (93.6 at $6.42) and Kakalove Cafe (94.2 at $6.62) pair high scores with low prices across deep ranges, so they can anchor the everyday menu.</a:t>
            </a:r>
          </a:p>
          <a:p>
            <a:pPr algn="l" marL="0" marR="0">
              <a:lnSpc>
                <a:spcPct val="115000"/>
              </a:lnSpc>
              <a:spcBef>
                <a:spcPts val="0"/>
              </a:spcBef>
              <a:spcAft>
                <a:spcPts val="800"/>
              </a:spcAft>
              <a:buNone/>
            </a:pPr>
            <a:r>
              <a:rPr cap="none" sz="1500" i="0" b="1" u="none" strike="noStrike">
                <a:solidFill>
                  <a:srgbClr val="2E1D14">
                    <a:alpha val="100000"/>
                  </a:srgbClr>
                </a:solidFill>
                <a:latin typeface="Calibri"/>
                <a:cs typeface="Calibri"/>
                <a:ea typeface="Calibri"/>
                <a:sym typeface="Calibri"/>
              </a:rPr>
              <a:t>Premium showpieces. </a:t>
            </a:r>
            <a:r>
              <a:rPr cap="none" sz="1500" i="0" b="0" u="none" strike="noStrike">
                <a:solidFill>
                  <a:srgbClr val="3A2A1E">
                    <a:alpha val="100000"/>
                  </a:srgbClr>
                </a:solidFill>
                <a:latin typeface="Calibri"/>
                <a:cs typeface="Calibri"/>
                <a:ea typeface="Calibri"/>
                <a:sym typeface="Calibri"/>
              </a:rPr>
              <a:t>Hula Daddy Kona Coffee (95.1, top-rated), GK Coffee (94.2) and Dragonfly Coffee Roasters (94.2) bring the standout cups for the feature shelf.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27432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PUTTING IT TOGETHER</a:t>
            </a:r>
          </a:p>
        </p:txBody>
      </p:sp>
      <p:sp>
        <p:nvSpPr>
          <p:cNvPr id="3" name=""/>
          <p:cNvSpPr>
            <a:spLocks noGrp="1"/>
          </p:cNvSpPr>
          <p:nvPr>
            <p:ph/>
          </p:nvPr>
        </p:nvSpPr>
        <p:spPr>
          <a:xfrm>
            <a:off x="457200" y="502920"/>
            <a:ext cx="8229600" cy="64008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A starter range for the shop</a:t>
            </a:r>
          </a:p>
        </p:txBody>
      </p:sp>
      <p:graphicFrame>
        <p:nvGraphicFramePr>
          <p:cNvPr id="4" name=""/>
          <p:cNvGraphicFramePr>
            <a:graphicFrameLocks noGrp="true"/>
          </p:cNvGraphicFramePr>
          <p:nvPr/>
        </p:nvGraphicFramePr>
        <p:xfrm rot="0">
          <a:off x="457200" y="1463040"/>
          <a:ext cx="8229600" cy="3657600"/>
        </p:xfrm>
        <a:graphic>
          <a:graphicData uri="http://schemas.openxmlformats.org/drawingml/2006/table">
            <a:tbl>
              <a:tblPr/>
              <a:tblGrid>
                <a:gridCol w="1645920"/>
                <a:gridCol w="2194560"/>
                <a:gridCol w="3291840"/>
                <a:gridCol w="1554480"/>
              </a:tblGrid>
              <a:tr h="228600">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Calibri"/>
                          <a:cs typeface="Calibri"/>
                          <a:ea typeface="Calibri"/>
                          <a:sym typeface="Calibri"/>
                        </a:rPr>
                        <a:t>Shelf</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7B4B2A">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Calibri"/>
                          <a:cs typeface="Calibri"/>
                          <a:ea typeface="Calibri"/>
                          <a:sym typeface="Calibri"/>
                        </a:rPr>
                        <a:t>Origin &amp; roast</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7B4B2A">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Calibri"/>
                          <a:cs typeface="Calibri"/>
                          <a:ea typeface="Calibri"/>
                          <a:sym typeface="Calibri"/>
                        </a:rPr>
                        <a:t>Why it earns its place</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7B4B2A">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Calibri"/>
                          <a:cs typeface="Calibri"/>
                          <a:ea typeface="Calibri"/>
                          <a:sym typeface="Calibri"/>
                        </a:rPr>
                        <a:t>Buy from</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7B4B2A">
                        <a:alpha val="100000"/>
                      </a:srgbClr>
                    </a:solidFill>
                  </a:tcPr>
                </a:tc>
              </a:tr>
              <a:tr h="22860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Everyday hero</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F6EFE7">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Kenya, light</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F6EFE7">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93.8 rating at about $6.96, juicy and bright</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F6EFE7">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Kakalove, JBC</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0">
                      <a:noFill/>
                      <a:prstDash val="solid"/>
                    </a:lnT>
                    <a:lnB algn="ctr" cmpd="sng" cap="flat" w="12700">
                      <a:solidFill>
                        <a:srgbClr val="CDC0B0">
                          <a:alpha val="100000"/>
                        </a:srgbClr>
                      </a:solidFill>
                      <a:prstDash val="solid"/>
                    </a:lnB>
                    <a:solidFill>
                      <a:srgbClr val="F6EFE7">
                        <a:alpha val="100000"/>
                      </a:srgbClr>
                    </a:solidFill>
                  </a:tcPr>
                </a:tc>
              </a:tr>
              <a:tr h="22860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Deep bench</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Ethiopia, medium-light</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93.1 rating, the widest choice (355 coffees)</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JBC, Red Rooster</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r>
              <a:tr h="22860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Value surprise</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6EFE7">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Indonesia, medium-light</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6EFE7">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93.0 rating at the lowest cost, $5.31</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6EFE7">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Kakalove, Red Rooster</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6EFE7">
                        <a:alpha val="100000"/>
                      </a:srgbClr>
                    </a:solidFill>
                  </a:tcPr>
                </a:tc>
              </a:tr>
              <a:tr h="22860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Premium pour</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Panama, light</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94.3 showpiece at $30.76 for the feature menu</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Calibri"/>
                          <a:cs typeface="Calibri"/>
                          <a:ea typeface="Calibri"/>
                          <a:sym typeface="Calibri"/>
                        </a:rPr>
                        <a:t>Hula Daddy, Dragonfly</a:t>
                      </a:r>
                    </a:p>
                  </a:txBody>
                  <a:tcPr anchor="ctr" marB="63500" marT="63500" marR="0" marL="0">
                    <a:lnL algn="ctr" cmpd="sng" cap="flat" w="12700">
                      <a:solidFill>
                        <a:srgbClr val="CDC0B0">
                          <a:alpha val="100000"/>
                        </a:srgbClr>
                      </a:solidFill>
                      <a:prstDash val="solid"/>
                    </a:lnL>
                    <a:lnR algn="ctr" cmpd="sng" cap="flat" w="12700">
                      <a:solidFill>
                        <a:srgbClr val="CDC0B0">
                          <a:alpha val="100000"/>
                        </a:srgbClr>
                      </a:solidFill>
                      <a:prstDash val="solid"/>
                    </a:lnR>
                    <a:lnT algn="ctr" cmpd="sng" cap="flat" w="12700">
                      <a:solidFill>
                        <a:srgbClr val="CDC0B0">
                          <a:alpha val="100000"/>
                        </a:srgbClr>
                      </a:solidFill>
                      <a:prstDash val="solid"/>
                    </a:lnT>
                    <a:lnB algn="ctr" cmpd="sng" cap="flat" w="12700">
                      <a:solidFill>
                        <a:srgbClr val="CDC0B0">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457200" y="6126480"/>
            <a:ext cx="8229600" cy="274320"/>
          </a:xfrm>
        </p:spPr>
        <p:txBody>
          <a:bodyPr/>
          <a:lstStyle/>
          <a:p>
            <a:pPr algn="l" marL="0" marR="0">
              <a:lnSpc>
                <a:spcPct val="100000"/>
              </a:lnSpc>
              <a:spcBef>
                <a:spcPts val="0"/>
              </a:spcBef>
              <a:spcAft>
                <a:spcPts val="0"/>
              </a:spcAft>
              <a:buNone/>
            </a:pPr>
            <a:r>
              <a:rPr cap="none" sz="1100" i="1" b="0" u="none" strike="noStrike">
                <a:solidFill>
                  <a:srgbClr val="8A7560">
                    <a:alpha val="100000"/>
                  </a:srgbClr>
                </a:solidFill>
                <a:latin typeface="Calibri"/>
                <a:cs typeface="Calibri"/>
                <a:ea typeface="Calibri"/>
                <a:sym typeface="Calibri"/>
              </a:rPr>
              <a:t>Ratings and prices are catalogue averages across the reviewed coffees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57200" y="365760"/>
            <a:ext cx="8229600" cy="274320"/>
          </a:xfrm>
        </p:spPr>
        <p:txBody>
          <a:bodyPr/>
          <a:lstStyle/>
          <a:p>
            <a:pPr algn="l" marL="0" marR="0">
              <a:lnSpc>
                <a:spcPct val="100000"/>
              </a:lnSpc>
              <a:spcBef>
                <a:spcPts val="0"/>
              </a:spcBef>
              <a:spcAft>
                <a:spcPts val="0"/>
              </a:spcAft>
              <a:buNone/>
            </a:pPr>
            <a:r>
              <a:rPr cap="none" sz="1200" i="0" b="1" u="none" strike="noStrike">
                <a:solidFill>
                  <a:srgbClr val="C75B39">
                    <a:alpha val="100000"/>
                  </a:srgbClr>
                </a:solidFill>
                <a:latin typeface="Calibri"/>
                <a:cs typeface="Calibri"/>
                <a:ea typeface="Calibri"/>
                <a:sym typeface="Calibri"/>
              </a:rPr>
              <a:t>THE BUYING RECIPE</a:t>
            </a:r>
          </a:p>
        </p:txBody>
      </p:sp>
      <p:sp>
        <p:nvSpPr>
          <p:cNvPr id="3" name=""/>
          <p:cNvSpPr>
            <a:spLocks noGrp="1"/>
          </p:cNvSpPr>
          <p:nvPr>
            <p:ph/>
          </p:nvPr>
        </p:nvSpPr>
        <p:spPr>
          <a:xfrm>
            <a:off x="457200" y="640080"/>
            <a:ext cx="8229600" cy="914400"/>
          </a:xfrm>
        </p:spPr>
        <p:txBody>
          <a:bodyPr/>
          <a:lstStyle/>
          <a:p>
            <a:pPr algn="l" marL="0" marR="0">
              <a:lnSpc>
                <a:spcPct val="100000"/>
              </a:lnSpc>
              <a:spcBef>
                <a:spcPts val="0"/>
              </a:spcBef>
              <a:spcAft>
                <a:spcPts val="0"/>
              </a:spcAft>
              <a:buNone/>
            </a:pPr>
            <a:r>
              <a:rPr cap="none" sz="3000" i="0" b="1" u="none" strike="noStrike">
                <a:solidFill>
                  <a:srgbClr val="2E1D14">
                    <a:alpha val="100000"/>
                  </a:srgbClr>
                </a:solidFill>
                <a:latin typeface="Cambria"/>
                <a:cs typeface="Cambria"/>
                <a:ea typeface="Cambria"/>
                <a:sym typeface="Cambria"/>
              </a:rPr>
              <a:t>Five moves to a shelf that pours above its price</a:t>
            </a:r>
          </a:p>
        </p:txBody>
      </p:sp>
      <p:sp>
        <p:nvSpPr>
          <p:cNvPr id="4" name=""/>
          <p:cNvSpPr>
            <a:spLocks noGrp="1"/>
          </p:cNvSpPr>
          <p:nvPr>
            <p:ph/>
          </p:nvPr>
        </p:nvSpPr>
        <p:spPr>
          <a:xfrm>
            <a:off x="457200" y="1920240"/>
            <a:ext cx="8229600" cy="4389120"/>
          </a:xfrm>
        </p:spPr>
        <p:txBody>
          <a:bodyPr/>
          <a:lstStyle/>
          <a:p>
            <a:pPr algn="l" marL="0" marR="0">
              <a:lnSpc>
                <a:spcPct val="115000"/>
              </a:lnSpc>
              <a:spcBef>
                <a:spcPts val="0"/>
              </a:spcBef>
              <a:spcAft>
                <a:spcPts val="800"/>
              </a:spcAft>
              <a:buNone/>
            </a:pPr>
            <a:r>
              <a:rPr cap="none" sz="1600" i="0" b="1" u="none" strike="noStrike">
                <a:solidFill>
                  <a:srgbClr val="2E1D14">
                    <a:alpha val="100000"/>
                  </a:srgbClr>
                </a:solidFill>
                <a:latin typeface="Calibri"/>
                <a:cs typeface="Calibri"/>
                <a:ea typeface="Calibri"/>
                <a:sym typeface="Calibri"/>
              </a:rPr>
              <a:t>1.  Roast.  </a:t>
            </a:r>
            <a:r>
              <a:rPr cap="none" sz="1600" i="0" b="0" u="none" strike="noStrike">
                <a:solidFill>
                  <a:srgbClr val="3A2A1E">
                    <a:alpha val="100000"/>
                  </a:srgbClr>
                </a:solidFill>
                <a:latin typeface="Calibri"/>
                <a:cs typeface="Calibri"/>
                <a:ea typeface="Calibri"/>
                <a:sym typeface="Calibri"/>
              </a:rPr>
              <a:t>Build the core range from light and medium-light beans, which rate highest and keep the origin character.</a:t>
            </a:r>
          </a:p>
          <a:p>
            <a:pPr algn="l" marL="0" marR="0">
              <a:lnSpc>
                <a:spcPct val="115000"/>
              </a:lnSpc>
              <a:spcBef>
                <a:spcPts val="0"/>
              </a:spcBef>
              <a:spcAft>
                <a:spcPts val="800"/>
              </a:spcAft>
              <a:buNone/>
            </a:pPr>
            <a:r>
              <a:rPr cap="none" sz="1600" i="0" b="1" u="none" strike="noStrike">
                <a:solidFill>
                  <a:srgbClr val="2E1D14">
                    <a:alpha val="100000"/>
                  </a:srgbClr>
                </a:solidFill>
                <a:latin typeface="Calibri"/>
                <a:cs typeface="Calibri"/>
                <a:ea typeface="Calibri"/>
                <a:sym typeface="Calibri"/>
              </a:rPr>
              <a:t>2.  Region.  </a:t>
            </a:r>
            <a:r>
              <a:rPr cap="none" sz="1600" i="0" b="0" u="none" strike="noStrike">
                <a:solidFill>
                  <a:srgbClr val="3A2A1E">
                    <a:alpha val="100000"/>
                  </a:srgbClr>
                </a:solidFill>
                <a:latin typeface="Calibri"/>
                <a:cs typeface="Calibri"/>
                <a:ea typeface="Calibri"/>
                <a:sym typeface="Calibri"/>
              </a:rPr>
              <a:t>Lead with Kenya and Ethiopia, 93-plus cups at about a fifth of premium prices.</a:t>
            </a:r>
          </a:p>
          <a:p>
            <a:pPr algn="l" marL="0" marR="0">
              <a:lnSpc>
                <a:spcPct val="115000"/>
              </a:lnSpc>
              <a:spcBef>
                <a:spcPts val="0"/>
              </a:spcBef>
              <a:spcAft>
                <a:spcPts val="800"/>
              </a:spcAft>
              <a:buNone/>
            </a:pPr>
            <a:r>
              <a:rPr cap="none" sz="1600" i="0" b="1" u="none" strike="noStrike">
                <a:solidFill>
                  <a:srgbClr val="2E1D14">
                    <a:alpha val="100000"/>
                  </a:srgbClr>
                </a:solidFill>
                <a:latin typeface="Calibri"/>
                <a:cs typeface="Calibri"/>
                <a:ea typeface="Calibri"/>
                <a:sym typeface="Calibri"/>
              </a:rPr>
              <a:t>3.  Flavour.  </a:t>
            </a:r>
            <a:r>
              <a:rPr cap="none" sz="1600" i="0" b="0" u="none" strike="noStrike">
                <a:solidFill>
                  <a:srgbClr val="3A2A1E">
                    <a:alpha val="100000"/>
                  </a:srgbClr>
                </a:solidFill>
                <a:latin typeface="Calibri"/>
                <a:cs typeface="Calibri"/>
                <a:ea typeface="Calibri"/>
                <a:sym typeface="Calibri"/>
              </a:rPr>
              <a:t>Favour lots that read frankincense, elegantly, saturated, juicy, the markers the data ties to the very best.</a:t>
            </a:r>
          </a:p>
          <a:p>
            <a:pPr algn="l" marL="0" marR="0">
              <a:lnSpc>
                <a:spcPct val="115000"/>
              </a:lnSpc>
              <a:spcBef>
                <a:spcPts val="0"/>
              </a:spcBef>
              <a:spcAft>
                <a:spcPts val="800"/>
              </a:spcAft>
              <a:buNone/>
            </a:pPr>
            <a:r>
              <a:rPr cap="none" sz="1600" i="0" b="1" u="none" strike="noStrike">
                <a:solidFill>
                  <a:srgbClr val="2E1D14">
                    <a:alpha val="100000"/>
                  </a:srgbClr>
                </a:solidFill>
                <a:latin typeface="Calibri"/>
                <a:cs typeface="Calibri"/>
                <a:ea typeface="Calibri"/>
                <a:sym typeface="Calibri"/>
              </a:rPr>
              <a:t>4.  Suppliers.  </a:t>
            </a:r>
            <a:r>
              <a:rPr cap="none" sz="1600" i="0" b="0" u="none" strike="noStrike">
                <a:solidFill>
                  <a:srgbClr val="3A2A1E">
                    <a:alpha val="100000"/>
                  </a:srgbClr>
                </a:solidFill>
                <a:latin typeface="Calibri"/>
                <a:cs typeface="Calibri"/>
                <a:ea typeface="Calibri"/>
                <a:sym typeface="Calibri"/>
              </a:rPr>
              <a:t>Anchor on Red Rooster Coffee Roaster, JBC Coffee Roasters and Kakalove Cafe for value, with Hula Daddy Kona Coffee and GK Coffee as showpieces.</a:t>
            </a:r>
          </a:p>
          <a:p>
            <a:pPr algn="l" marL="0" marR="0">
              <a:lnSpc>
                <a:spcPct val="115000"/>
              </a:lnSpc>
              <a:spcBef>
                <a:spcPts val="0"/>
              </a:spcBef>
              <a:spcAft>
                <a:spcPts val="800"/>
              </a:spcAft>
              <a:buNone/>
            </a:pPr>
            <a:r>
              <a:rPr cap="none" sz="1600" i="0" b="1" u="none" strike="noStrike">
                <a:solidFill>
                  <a:srgbClr val="2E1D14">
                    <a:alpha val="100000"/>
                  </a:srgbClr>
                </a:solidFill>
                <a:latin typeface="Calibri"/>
                <a:cs typeface="Calibri"/>
                <a:ea typeface="Calibri"/>
                <a:sym typeface="Calibri"/>
              </a:rPr>
              <a:t>5.  Price.  </a:t>
            </a:r>
            <a:r>
              <a:rPr cap="none" sz="1600" i="0" b="0" u="none" strike="noStrike">
                <a:solidFill>
                  <a:srgbClr val="3A2A1E">
                    <a:alpha val="100000"/>
                  </a:srgbClr>
                </a:solidFill>
                <a:latin typeface="Calibri"/>
                <a:cs typeface="Calibri"/>
                <a:ea typeface="Calibri"/>
                <a:sym typeface="Calibri"/>
              </a:rPr>
              <a:t>Most of the quality sits near $6 to $7 per 100g, so a strong everyday menu need not be expensive.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diaz</cp:lastModifiedBy>
  <cp:revision>3</cp:revision>
  <dcterms:created xsi:type="dcterms:W3CDTF">2017-02-13T16:18:36Z</dcterms:created>
  <dcterms:modified xsi:type="dcterms:W3CDTF">2026-06-18T22:58:13Z</dcterms:modified>
  <cp:category/>
</cp:coreProperties>
</file>